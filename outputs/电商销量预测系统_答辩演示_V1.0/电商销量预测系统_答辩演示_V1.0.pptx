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7" Type="http://schemas.openxmlformats.org/officeDocument/2006/relationships/slide" Target="slides/slide7.xml" /><Relationship Id="rId13" Type="http://schemas.openxmlformats.org/officeDocument/2006/relationships/slide" Target="slides/slide13.xml" /><Relationship Id="rId4" Type="http://schemas.openxmlformats.org/officeDocument/2006/relationships/slide" Target="slides/slide4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notesMaster" Target="notesMasters/notesMaster1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pn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charts/chart1.xml><?xml version="1.0" encoding="utf-8"?>
<c:chartSpace xmlns:a="http://schemas.openxmlformats.org/drawingml/2006/main" xmlns:c="http://schemas.openxmlformats.org/drawingml/2006/chart">
  <c:chart>
    <c:title>
      <c:tx>
        <c:rich>
          <a:bodyPr/>
          <a:p>
            <a:pPr>
              <a:defRPr sz="1350">
                <a:solidFill>
                  <a:srgbClr val="0E3F8C"/>
                </a:solidFill>
              </a:defRPr>
            </a:pPr>
            <a:r>
              <a:rPr sz="1350">
                <a:solidFill>
                  <a:srgbClr val="0E3F8C"/>
                </a:solidFill>
              </a:rPr>
              <a:t>关键路径耗时对比（秒）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0E3F8C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耗时</c:v>
                </c:pt>
              </c:strCache>
            </c:strRef>
          </c:tx>
          <c:spPr>
            <a:solidFill>
              <a:srgbClr val="1E4FA8"/>
            </a:solidFill>
          </c:spPr>
          <c:dLbls>
            <c:txPr>
              <a:bodyPr/>
              <a:p>
                <a:pPr>
                  <a:defRPr sz="750">
                    <a:solidFill>
                      <a:srgbClr val="1A2230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3"/>
                <c:pt idx="0">
                  <c:v>端到端 14 天预测</c:v>
                </c:pt>
                <c:pt idx="1">
                  <c:v>CPU 回退模式</c:v>
                </c:pt>
                <c:pt idx="2">
                  <c:v>3 并发（单请求）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11.85</c:v>
                </c:pt>
                <c:pt idx="1">
                  <c:v>23.49</c:v>
                </c:pt>
                <c:pt idx="2">
                  <c:v>37.6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B97A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B97A8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padding: '0 40px', background: '#FFFFFF', flexDirection: 'column' }}&gt;&#10;    &lt;Box style={{ height: 80, width: '100%', background: '#0E3F8C', flexDirection: 'row', alignItems: 'center', justifyContent: 'space-between', padding: '0 28px' }}&gt;&#10;        &lt;Text style={{ fontSize: 16, color: '#FFFFFF', fontWeight: 'bold', letterSpacing: 1 }}&gt;电商销量预测系统 · 课程答辩演示&lt;/Text&gt;&#10;        &lt;Text style={{ fontSize: 14, color: '#B9CCEF' }}&gt;韩山师范学院 · 数据科学与大数据技术&lt;/Text&gt;&#10;    &lt;/Box&gt;&#10;&#10;    &lt;Box style={{ height: 580, width: '100%', flexDirection: 'row' }}&gt;&#10;        &lt;Box style={{ width: 700, height: 580, background: '#0E3F8C', padding: '44px 40px', flexDirection: 'column', justifyContent: 'center' }}&gt;&#10;            &lt;Box style={{ flexDirection: 'row', alignItems: 'center', gap: 10, background: '#1E4FA8', borderRadius: 999, padding: '6px 16px', width: 332 }}&gt;&#10;                &lt;Box style={{ width: 8, height: 8, borderRadius: 4, background: '#FFC107' }} /&gt;&#10;                &lt;Text style={{ fontSize: 15, color: '#D6E3FA' }}&gt;基于 LSTM 的时序预测 · 2026 课程设计&lt;/Text&gt;&#10;            &lt;/Box&gt;&#10;&#10;            &lt;Text style={{ fontSize: 62, color: '#FFFFFF', fontWeight: 'bold', lineHeight: 1.2, marginTop: 20 }}&gt;电商销量预测系统&lt;/Text&gt;&#10;&#10;            &lt;Box style={{ width: 88, height: 4, background: '#3D7BD9', marginTop: 20 }} /&gt;&#10;&#10;            &lt;Text style={{ fontSize: 48, color: '#9FBCEC', fontWeight: 'bold', lineHeight: 1.22, marginTop: 18 }}&gt;E-Commerce Sales&lt;br /&gt;Forecasting System&lt;/Text&gt;&#10;&#10;            &lt;Text style={{ fontSize: 20, color: '#E8EFF8', lineHeight: 1.55, marginTop: 16 }}&gt;仓库 × 商品级粒度 · 三级降级兜底&lt;br /&gt;纯预训练推理，端到端 11.85 秒完成 14 天预测&lt;/Text&gt;&#10;        &lt;/Box&gt;&#10;&#10;        &lt;Box style={{ width: 500, height: 580, flexDirection: 'column', justifyContent: 'flex-end', paddingLeft: 24 }}&gt;&#10;            &lt;Box style={{ width: 476, height: 500, border: '1px solid #D6DCE5', borderRadius: 12, overflow: 'hidden', background: '#F7F9FC' }}&gt;&#10;                &lt;Image src='assets/result.png' style={{ width: '100%', height: '100%', objectFit: 'cover', objectPosition: 'top' }} /&gt;&#10;            &lt;/Box&gt;&#10;            &lt;Text style={{ fontSize: 14, color: '#8B97A8', marginTop: 10 }}&gt;图 1　预测结果页（真实运行截图，Chromium 1600px 视口）&lt;/Text&gt;&#10;        &lt;/Box&gt;&#10;    &lt;/Box&gt;&#10;&#10;    &lt;Box style={{ height: 40, width: '100%', flexDirection: 'row', alignItems: 'center', justifyContent: 'space-between' }}&gt;&#10;        &lt;Text style={{ fontSize: 14, color: '#8B97A8' }}&gt;汇报人：吕治　·　2026 年 10 月　·　数据科学与大数据技术（2023.9–2027.6）&lt;/Text&gt;&#10;        &lt;Text style={{ fontSize: 14, color: '#1E4FA8', fontWeight: 'bold' }}&gt;01 / 18&lt;/Text&gt;&#10;    &lt;/Box&gt;&#10;&#10;    &lt;Box style={{ height: 20, width: '100%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381000" y="0"/>
            <a:ext cx="11430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47700" y="28575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电商销量预测系统</a:t>
            </a:r>
            <a:r>
              <a:rPr lang="en-US" sz="1200" b="1" spc="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课程答辩演示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9296400" y="30480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韩山师范学院</a:t>
            </a: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数据科学与大数据技术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381000" y="762000"/>
            <a:ext cx="6667500" cy="5524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" name=""/>
          <p:cNvSpPr/>
          <p:nvPr/>
        </p:nvSpPr>
        <p:spPr>
          <a:xfrm rot="0" flipH="0" flipV="0">
            <a:off x="762000" y="1552575"/>
            <a:ext cx="3162300" cy="285750"/>
          </a:xfrm>
          <a:prstGeom prst="roundRect">
            <a:avLst>
              <a:gd name="adj" fmla="val 333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" name=""/>
          <p:cNvSpPr/>
          <p:nvPr/>
        </p:nvSpPr>
        <p:spPr>
          <a:xfrm rot="0" flipH="0" flipV="0">
            <a:off x="914400" y="16573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085850" y="1609725"/>
            <a:ext cx="2533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6E3FA"/>
                </a:solidFill>
                <a:latin typeface="Microsoft YaHei"/>
                <a:ea typeface="Microsoft YaHei"/>
              </a:rPr>
              <a:t>基于</a:t>
            </a:r>
            <a:r>
              <a:rPr lang="en-US" sz="1125">
                <a:solidFill>
                  <a:srgbClr val="D6E3FA"/>
                </a:solidFill>
                <a:latin typeface="Microsoft YaHei"/>
                <a:ea typeface="Microsoft YaHei"/>
              </a:rPr>
              <a:t xml:space="preserve"> LSTM </a:t>
            </a:r>
            <a:r>
              <a:rPr lang="zh-CN" sz="1125">
                <a:solidFill>
                  <a:srgbClr val="D6E3FA"/>
                </a:solidFill>
                <a:latin typeface="Microsoft YaHei"/>
                <a:ea typeface="Microsoft YaHei"/>
              </a:rPr>
              <a:t>的时序预测</a:t>
            </a:r>
            <a:r>
              <a:rPr lang="en-US" sz="1125">
                <a:solidFill>
                  <a:srgbClr val="D6E3FA"/>
                </a:solidFill>
                <a:latin typeface="Microsoft YaHei"/>
                <a:ea typeface="Microsoft YaHei"/>
              </a:rPr>
              <a:t xml:space="preserve"> · 2026 </a:t>
            </a:r>
            <a:r>
              <a:rPr lang="zh-CN" sz="1125">
                <a:solidFill>
                  <a:srgbClr val="D6E3FA"/>
                </a:solidFill>
                <a:latin typeface="Microsoft YaHei"/>
                <a:ea typeface="Microsoft YaHei"/>
              </a:rPr>
              <a:t>课程设计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2028825"/>
            <a:ext cx="5905500" cy="8572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电商销量预测系统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762000" y="3076575"/>
            <a:ext cx="8382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62000" y="3286125"/>
            <a:ext cx="5905500" cy="1343025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en-US" sz="3600" b="1">
                <a:solidFill>
                  <a:srgbClr val="9FBCEC"/>
                </a:solidFill>
                <a:latin typeface="Microsoft YaHei"/>
                <a:ea typeface="Microsoft YaHei"/>
              </a:rPr>
              <a:t>E-Commerce Sales</a:t>
            </a:r>
            <a:endParaRPr/>
          </a:p>
          <a:p>
            <a:pPr>
              <a:lnSpc>
                <a:spcPct val="122000"/>
              </a:lnSpc>
            </a:pPr>
            <a:r>
              <a:rPr lang="en-US" sz="3600" b="1">
                <a:solidFill>
                  <a:srgbClr val="9FBCEC"/>
                </a:solidFill>
                <a:latin typeface="Microsoft YaHei"/>
                <a:ea typeface="Microsoft YaHei"/>
              </a:rPr>
              <a:t>Forecasting System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62000" y="4781550"/>
            <a:ext cx="5905500" cy="7143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仓库</a:t>
            </a:r>
            <a:r>
              <a:rPr lang="en-US" sz="1500">
                <a:solidFill>
                  <a:srgbClr val="E8EFF8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商品级粒度</a:t>
            </a:r>
            <a:r>
              <a:rPr lang="en-US" sz="1500">
                <a:solidFill>
                  <a:srgbClr val="E8EF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三级降级兜底</a:t>
            </a:r>
            <a:endParaRPr/>
          </a:p>
          <a:p>
            <a:pPr>
              <a:lnSpc>
                <a:spcPct val="155000"/>
              </a:lnSpc>
            </a:pP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纯预训练推理，端到端</a:t>
            </a:r>
            <a:r>
              <a:rPr lang="en-US" sz="1500">
                <a:solidFill>
                  <a:srgbClr val="E8EFF8"/>
                </a:solidFill>
                <a:latin typeface="Microsoft YaHei"/>
                <a:ea typeface="Microsoft YaHei"/>
              </a:rPr>
              <a:t xml:space="preserve"> 11.85 </a:t>
            </a: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秒完成</a:t>
            </a:r>
            <a:r>
              <a:rPr lang="en-US" sz="1500">
                <a:solidFill>
                  <a:srgbClr val="E8EFF8"/>
                </a:solidFill>
                <a:latin typeface="Microsoft YaHei"/>
                <a:ea typeface="Microsoft YaHei"/>
              </a:rPr>
              <a:t xml:space="preserve"> 14 </a:t>
            </a: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天预测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7277100" y="1266825"/>
            <a:ext cx="4533900" cy="4762500"/>
          </a:xfrm>
          <a:prstGeom prst="roundRect">
            <a:avLst>
              <a:gd name="adj" fmla="val 252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5" name=""/>
          <p:cNvPicPr>
            <a:picLocks noChangeAspect="1"/>
          </p:cNvPicPr>
          <p:nvPr/>
        </p:nvPicPr>
        <p:blipFill>
          <a:blip r:embed="rId1"/>
          <a:srcRect l="0" t="25969" r="0" b="25969"/>
          <a:stretch>
            <a:fillRect/>
          </a:stretch>
        </p:blipFill>
        <p:spPr>
          <a:xfrm rot="0" flipH="0" flipV="0">
            <a:off x="7277100" y="1266825"/>
            <a:ext cx="4533900" cy="4762500"/>
          </a:xfrm>
          <a:custGeom>
            <a:pathLst>
              <a:path w="476" h="500">
                <a:moveTo>
                  <a:pt x="464" y="0"/>
                </a:moveTo>
                <a:cubicBezTo>
                  <a:pt x="471" y="0"/>
                  <a:pt x="476" y="5"/>
                  <a:pt x="476" y="12"/>
                </a:cubicBezTo>
                <a:lnTo>
                  <a:pt x="476" y="488"/>
                </a:lnTo>
                <a:cubicBezTo>
                  <a:pt x="476" y="495"/>
                  <a:pt x="471" y="500"/>
                  <a:pt x="464" y="500"/>
                </a:cubicBezTo>
                <a:lnTo>
                  <a:pt x="12" y="500"/>
                </a:lnTo>
                <a:cubicBezTo>
                  <a:pt x="5" y="500"/>
                  <a:pt x="0" y="495"/>
                  <a:pt x="0" y="488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464" y="0"/>
                </a:lnTo>
                <a:close/>
              </a:path>
            </a:pathLst>
          </a:custGeom>
          <a:ln/>
        </p:spPr>
      </p:pic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7277100" y="61245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　预测结果页（真实运行截图，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Chromium 1600px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视口）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477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汇报人：吕治　·　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　·　数据科学与大数据技术（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2023.9–2027.6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01 / 18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11" name="" descr="&lt;Slide style={{ width: 1280, height: 720, padding: '0 40px', background: '#FFFFFF', flexDirection: 'column' }}&gt;&#10;    &lt;Box style={{ height: 80, width: '100%', background: '#0E3F8C', flexDirection: 'row', alignItems: 'center', justifyContent: 'space-between', padding: '0 28px' }}&gt;&#10;        &lt;Text style={{ fontSize: 16, color: '#FFFFFF', fontWeight: 'bold', letterSpacing: 1 }}&gt;电商销量预测系统 · 课程答辩演示&lt;/Text&gt;&#10;        &lt;Text style={{ fontSize: 14, color: '#B9CCEF' }}&gt;汇报目录&lt;/Text&gt;&#10;    &lt;/Box&gt;&#10;&#10;    &lt;Box style={{ height: 580, width: '100%', flexDirection: 'row' }}&gt;&#10;        &lt;Box style={{ width: 366, height: 580, background: '#0E3F8C', padding: '40px 34px', flexDirection: 'column', justifyContent: 'center' }}&gt;&#10;            &lt;Text style={{ fontSize: 16, color: '#7BA3E0', letterSpacing: 3 }}&gt;CONTENTS&lt;/Text&gt;&#10;            &lt;Text style={{ fontSize: 42, color: '#FFFFFF', fontWeight: 'bold', lineHeight: 1.25, marginTop: 14 }}&gt;汇报&lt;br /&gt;目录&lt;/Text&gt;&#10;            &lt;Box style={{ width: 60, height: 4, background: '#3D7BD9', marginTop: 20 }} /&gt;&#10;            &lt;Text style={{ fontSize: 18, color: '#C7D8F2', lineHeight: 1.7, marginTop: 22 }}&gt;从问题定义出发，经技术选型与工程推进，落到指标达成与难点应对——五章构成一条可逐项核对的论证链。&lt;/Text&gt;&#10;            &lt;Text style={{ fontSize: 15, color: '#8FB0E4', marginTop: 26 }}&gt;全篇 18 页　·　核心数据均来自样本外回测与本机实测&lt;/Text&gt;&#10;        &lt;/Box&gt;&#10;&#10;        &lt;Box style={{ width: 834, height: 580, paddingLeft: 34, flexDirection: 'column', justifyContent: 'center' }}&gt;&#10;            &lt;Box style={{ flexDirection: 'row', alignItems: 'center', height: 96, borderBottom: '1px solid #E5E7EB' }}&gt;&#10;                &lt;Box style={{ width: 52, height: 52, background: '#1E4FA8', borderRadius: 8, alignItems: 'center', justifyContent: 'center' }}&gt;&#10;                    &lt;Text style={{ fontSize: 22, color: '#FFFFFF', fontWeight: 'bold' }}&gt;01&lt;/Text&gt;&#10;                &lt;/Box&gt;&#10;                &lt;Box style={{ flex: 1, flexDirection: 'column', paddingLeft: 20 }}&gt;&#10;                    &lt;Text style={{ fontSize: 26, color: '#0E3F8C', fontWeight: 'bold' }}&gt;项目概况&lt;/Text&gt;&#10;                    &lt;Text style={{ fontSize: 18, color: '#4A5568', lineHeight: 1.5, marginTop: 6 }}&gt;业务问题定义 · 三条硬指标红线 · 六大模块闭环&lt;/Text&gt;&#10;                &lt;/Box&gt;&#10;                &lt;Text style={{ fontSize: 17, color: '#3D7BD9', fontWeight: 'bold' }}&gt;P3–P5&lt;/Text&gt;&#10;            &lt;/Box&gt;&#10;&#10;            &lt;Box style={{ flexDirection: 'row', alignItems: 'center', height: 96, borderBottom: '1px solid #E5E7EB' }}&gt;&#10;                &lt;Box style={{ width: 52, height: 52, background: '#1E4FA8', borderRadius: 8, alignItems: 'center', justifyContent: 'center' }}&gt;&#10;                    &lt;Text style={{ fontSize: 22, color: '#FFFFFF', fontWeight: 'bold' }}&gt;02&lt;/Text&gt;&#10;                &lt;/Box&gt;&#10;                &lt;Box style={{ flex: 1, flexDirection: 'column', paddingLeft: 20 }}&gt;&#10;                    &lt;Text style={{ fontSize: 26, color: '#0E3F8C', fontWeight: 'bold' }}&gt;技术方案&lt;/Text&gt;&#10;                    &lt;Text style={{ fontSize: 18, color: '#4A5568', lineHeight: 1.5, marginTop: 6 }}&gt;技术栈锁定 · 算法设计五条铁律 · 三级降级兜底&lt;/Text&gt;&#10;                &lt;/Box&gt;&#10;                &lt;Text style={{ fontSize: 17, color: '#3D7BD9', fontWeight: 'bold' }}&gt;P6–P9&lt;/Text&gt;&#10;            &lt;/Box&gt;&#10;&#10;            &lt;Box style={{ flexDirection: 'row', alignItems: 'center', height: 96, borderBottom: '1px solid #E5E7EB' }}&gt;&#10;                &lt;Box style={{ width: 52, height: 52, background: '#1E4FA8', borderRadius: 8, alignItems: 'center', justifyContent: 'center' }}&gt;&#10;                    &lt;Text style={{ fontSize: 22, color: '#FFFFFF', fontWeight: 'bold' }}&gt;03&lt;/Text&gt;&#10;                &lt;/Box&gt;&#10;                &lt;Box style={{ flex: 1, flexDirection: 'column', paddingLeft: 20 }}&gt;&#10;                    &lt;Text style={{ fontSize: 26, color: '#0E3F8C', fontWeight: 'bold' }}&gt;实现过程&lt;/Text&gt;&#10;                    &lt;Text style={{ fontSize: 18, color: '#4A5568', lineHeight: 1.5, marginTop: 6 }}&gt;11 阶段推进 · 每阶段验收门禁 · 工程规模实测&lt;/Text&gt;&#10;                &lt;/Box&gt;&#10;                &lt;Text style={{ fontSize: 17, color: '#3D7BD9', fontWeight: 'bold' }}&gt;P10–P11&lt;/Text&gt;&#10;            &lt;/Box&gt;&#10;&#10;            &lt;Box style={{ flexDirection: 'row', alignItems: 'center', height: 96, borderBottom: '1px solid #E5E7EB' }}&gt;&#10;                &lt;Box style={{ width: 52, height: 52, background: '#1E4FA8', borderRadius: 8, alignItems: 'center', justifyContent: 'center' }}&gt;&#10;                    &lt;Text style={{ fontSize: 22, color: '#FFFFFF', fontWeight: 'bold' }}&gt;04&lt;/Text&gt;&#10;                &lt;/Box&gt;&#10;                &lt;Box style={{ flex: 1, flexDirection: 'column', paddingLeft: 20 }}&gt;&#10;                    &lt;Text style={{ fontSize: 26, color: '#0E3F8C', fontWeight: 'bold' }}&gt;目标达成度&lt;/Text&gt;&#10;                    &lt;Text style={{ fontSize: 18, color: '#4A5568', lineHeight: 1.5, marginTop: 6 }}&gt;三项硬指标达成 · 性能实测 · 质量保障&lt;/Text&gt;&#10;                &lt;/Box&gt;&#10;                &lt;Text style={{ fontSize: 17, color: '#3D7BD9', fontWeight: 'bold' }}&gt;P12–P15&lt;/Text&gt;&#10;            &lt;/Box&gt;&#10;&#10;            &lt;Box style={{ flexDirection: 'row', alignItems: 'center', height: 96 }}&gt;&#10;                &lt;Box style={{ width: 52, height: 52, background: '#1E4FA8', borderRadius: 8, alignItems: 'center', justifyContent: 'center' }}&gt;&#10;                    &lt;Text style={{ fontSize: 22, color: '#FFFFFF', fontWeight: 'bold' }}&gt;05&lt;/Text&gt;&#10;                &lt;/Box&gt;&#10;                &lt;Box style={{ flex: 1, flexDirection: 'column', paddingLeft: 20 }}&gt;&#10;                    &lt;Text style={{ fontSize: 26, color: '#0E3F8C', fontWeight: 'bold' }}&gt;难点与应对&lt;/Text&gt;&#10;                    &lt;Text style={{ fontSize: 18, color: '#4A5568', lineHeight: 1.5, marginTop: 6 }}&gt;五个真实难点 · 具体解法 · 结语与致谢&lt;/Text&gt;&#10;                &lt;/Box&gt;&#10;                &lt;Text style={{ fontSize: 17, color: '#3D7BD9', fontWeight: 'bold' }}&gt;P16–P18&lt;/Text&gt;&#10;            &lt;/Box&gt;&#10;        &lt;/Box&gt;&#10;    &lt;/Box&gt;&#10;&#10;    &lt;Box style={{ height: 40, width: '100%', flexDirection: 'row', alignItems: 'center', justifyContent: 'space-between' }}&gt;&#10;        &lt;Text style={{ fontSize: 14, color: '#8B97A8' }}&gt;汇报人：吕治　·　2026 年 10 月　·　数据科学与大数据技术（2023.9–2027.6）&lt;/Text&gt;&#10;        &lt;Text style={{ fontSize: 14, color: '#1E4FA8', fontWeight: 'bold' }}&gt;02 / 18&lt;/Text&gt;&#10;    &lt;/Box&gt;&#10;&#10;    &lt;Box style={{ height: 20, width: '100%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381000" y="0"/>
            <a:ext cx="11430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47700" y="28575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电商销量预测系统</a:t>
            </a:r>
            <a:r>
              <a:rPr lang="en-US" sz="1200" b="1" spc="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课程答辩演示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11010900" y="3048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汇报目录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381000" y="762000"/>
            <a:ext cx="3486150" cy="5524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704850" y="1724025"/>
            <a:ext cx="2838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7BA3E0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704850" y="2047875"/>
            <a:ext cx="2838450" cy="12001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汇报</a:t>
            </a:r>
            <a:endParaRPr/>
          </a:p>
          <a:p>
            <a:pPr>
              <a:lnSpc>
                <a:spcPct val="125000"/>
              </a:lnSpc>
            </a:pP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704850" y="3438525"/>
            <a:ext cx="5715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04850" y="3686175"/>
            <a:ext cx="283845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C7D8F2"/>
                </a:solidFill>
                <a:latin typeface="Microsoft YaHei"/>
                <a:ea typeface="Microsoft YaHei"/>
              </a:rPr>
              <a:t>从问题定义出发，经技术选型与工程推进，落到指标达成与难点应对——五章构成一条可逐项核对的论证链。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704850" y="4991100"/>
            <a:ext cx="283845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8FB0E4"/>
                </a:solidFill>
                <a:latin typeface="Microsoft YaHei"/>
                <a:ea typeface="Microsoft YaHei"/>
              </a:rPr>
              <a:t>全篇</a:t>
            </a:r>
            <a:r>
              <a:rPr lang="en-US" sz="1125">
                <a:solidFill>
                  <a:srgbClr val="8FB0E4"/>
                </a:solidFill>
                <a:latin typeface="Microsoft YaHei"/>
                <a:ea typeface="Microsoft YaHei"/>
              </a:rPr>
              <a:t xml:space="preserve"> 18 </a:t>
            </a:r>
            <a:r>
              <a:rPr lang="zh-CN" sz="1125">
                <a:solidFill>
                  <a:srgbClr val="8FB0E4"/>
                </a:solidFill>
                <a:latin typeface="Microsoft YaHei"/>
                <a:ea typeface="Microsoft YaHei"/>
              </a:rPr>
              <a:t>页　·　核心数据均来自样本外回测与本机实测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4191000" y="1238250"/>
            <a:ext cx="7620000" cy="914400"/>
          </a:xfrm>
          <a:custGeom>
            <a:pathLst>
              <a:path w="800" h="96">
                <a:moveTo>
                  <a:pt x="0" y="95"/>
                </a:moveTo>
                <a:lnTo>
                  <a:pt x="800" y="95"/>
                </a:lnTo>
                <a:lnTo>
                  <a:pt x="800" y="96"/>
                </a:lnTo>
                <a:lnTo>
                  <a:pt x="0" y="9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4191000" y="14478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305300" y="157162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876800" y="1352550"/>
            <a:ext cx="6429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项目概况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4876800" y="1714500"/>
            <a:ext cx="64293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业务问题定义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三条硬指标红线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六大模块闭环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1306175" y="1590675"/>
            <a:ext cx="504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D7BD9"/>
                </a:solidFill>
                <a:latin typeface="Microsoft YaHei"/>
                <a:ea typeface="Microsoft YaHei"/>
              </a:rPr>
              <a:t>P3–P5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4191000" y="2152650"/>
            <a:ext cx="7620000" cy="914400"/>
          </a:xfrm>
          <a:custGeom>
            <a:pathLst>
              <a:path w="800" h="96">
                <a:moveTo>
                  <a:pt x="0" y="95"/>
                </a:moveTo>
                <a:lnTo>
                  <a:pt x="800" y="95"/>
                </a:lnTo>
                <a:lnTo>
                  <a:pt x="800" y="96"/>
                </a:lnTo>
                <a:lnTo>
                  <a:pt x="0" y="9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4191000" y="23622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305300" y="248602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4876800" y="2266950"/>
            <a:ext cx="6429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技术方案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4876800" y="2628900"/>
            <a:ext cx="64293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技术栈锁定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算法设计五条铁律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三级降级兜底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1306175" y="2505075"/>
            <a:ext cx="504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D7BD9"/>
                </a:solidFill>
                <a:latin typeface="Microsoft YaHei"/>
                <a:ea typeface="Microsoft YaHei"/>
              </a:rPr>
              <a:t>P6–P9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4191000" y="3067050"/>
            <a:ext cx="7620000" cy="914400"/>
          </a:xfrm>
          <a:custGeom>
            <a:pathLst>
              <a:path w="800" h="96">
                <a:moveTo>
                  <a:pt x="0" y="95"/>
                </a:moveTo>
                <a:lnTo>
                  <a:pt x="800" y="95"/>
                </a:lnTo>
                <a:lnTo>
                  <a:pt x="800" y="96"/>
                </a:lnTo>
                <a:lnTo>
                  <a:pt x="0" y="9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35" name=""/>
          <p:cNvSpPr/>
          <p:nvPr/>
        </p:nvSpPr>
        <p:spPr>
          <a:xfrm rot="0" flipH="0" flipV="0">
            <a:off x="4191000" y="32766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305300" y="340042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876800" y="3181350"/>
            <a:ext cx="6229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实现过程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876800" y="3543300"/>
            <a:ext cx="62293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11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阶段推进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每阶段验收门禁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工程规模实测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11106150" y="3419475"/>
            <a:ext cx="704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D7BD9"/>
                </a:solidFill>
                <a:latin typeface="Microsoft YaHei"/>
                <a:ea typeface="Microsoft YaHei"/>
              </a:rPr>
              <a:t>P10–P11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4191000" y="3981450"/>
            <a:ext cx="7620000" cy="914400"/>
          </a:xfrm>
          <a:custGeom>
            <a:pathLst>
              <a:path w="800" h="96">
                <a:moveTo>
                  <a:pt x="0" y="95"/>
                </a:moveTo>
                <a:lnTo>
                  <a:pt x="800" y="95"/>
                </a:lnTo>
                <a:lnTo>
                  <a:pt x="800" y="96"/>
                </a:lnTo>
                <a:lnTo>
                  <a:pt x="0" y="9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41" name=""/>
          <p:cNvSpPr/>
          <p:nvPr/>
        </p:nvSpPr>
        <p:spPr>
          <a:xfrm rot="0" flipH="0" flipV="0">
            <a:off x="4191000" y="41910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4305300" y="431482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876800" y="4095750"/>
            <a:ext cx="6229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目标达成度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876800" y="4457700"/>
            <a:ext cx="62293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三项硬指标达成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性能实测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质量保障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1106150" y="4333875"/>
            <a:ext cx="704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D7BD9"/>
                </a:solidFill>
                <a:latin typeface="Microsoft YaHei"/>
                <a:ea typeface="Microsoft YaHei"/>
              </a:rPr>
              <a:t>P12–P15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4191000" y="51054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305300" y="522922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4876800" y="5019675"/>
            <a:ext cx="6229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难点与应对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4876800" y="5381625"/>
            <a:ext cx="62293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五个真实难点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具体解法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结语与致谢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11106150" y="5257800"/>
            <a:ext cx="704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D7BD9"/>
                </a:solidFill>
                <a:latin typeface="Microsoft YaHei"/>
                <a:ea typeface="Microsoft YaHei"/>
              </a:rPr>
              <a:t>P16–P18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477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汇报人：吕治　·　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　·　数据科学与大数据技术（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2023.9–2027.6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02 / 18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353" name="" descr="&lt;Slide style={{ width: 1280, height: 720, padding: '0 40px', background: '#FFFFFF', flexDirection: 'column' }}&gt;&#10;    &lt;Box style={{ height: 80, width: '100%', background: '#0E3F8C', flexDirection: 'row', alignItems: 'center', justifyContent: 'space-between', padding: '0 28px' }}&gt;&#10;        &lt;Text style={{ fontSize: 16, color: '#FFFFFF', fontWeight: 'bold', letterSpacing: 1 }}&gt;电商销量预测系统 · 课程答辩演示&lt;/Text&gt;&#10;        &lt;Text style={{ fontSize: 14, color: '#B9CCEF' }}&gt;01 项目概况&lt;/Text&gt;&#10;    &lt;/Box&gt;&#10;&#10;    &lt;Box style={{ height: 580, width: '100%', flexDirection: 'row' }}&gt;&#10;        &lt;Box style={{ width: 300, height: 580, background: '#0E3F8C', alignItems: 'center', justifyContent: 'center' }}&gt;&#10;            &lt;Text style={{ fontSize: 150, color: '#FFFFFF', fontWeight: 'bold', letterSpacing: 2 }}&gt;01&lt;/Text&gt;&#10;        &lt;/Box&gt;&#10;&#10;        &lt;Box style={{ width: 900, height: 580, padding: '0 34px 0 46px', flexDirection: 'column', justifyContent: 'center' }}&gt;&#10;            &lt;Text style={{ fontSize: 15, color: '#8B97A8', letterSpacing: 3 }}&gt;CHAPTER ONE&lt;/Text&gt;&#10;            &lt;Text style={{ fontSize: 44, color: '#0E3F8C', fontWeight: 'bold', marginTop: 12 }}&gt;项目概况&lt;/Text&gt;&#10;            &lt;Box style={{ width: 64, height: 4, background: '#3D7BD9', marginTop: 18 }} /&gt;&#10;&#10;            &lt;Box style={{ flexDirection: 'row', alignItems: 'flex-start', gap: 16, marginTop: 30 }}&gt;&#10;                &lt;Box style={{ width: 34, height: 34, background: '#1E4FA8', borderRadius: 6, alignItems: 'center', justifyContent: 'center' }}&gt;&#10;                    &lt;Text style={{ fontSize: 16, color: '#FFFFFF', fontWeight: 'bold' }}&gt;01&lt;/Text&gt;&#10;                &lt;/Box&gt;&#10;                &lt;Text style={{ flex: 1, fontSize: 22, color: '#1A2230', lineHeight: 1.6 }}&gt;业务问题：分仓补货长期依赖人工经验，长尾商品在稀疏历史下无据可依&lt;/Text&gt;&#10;            &lt;/Box&gt;&#10;&#10;            &lt;Box style={{ flexDirection: 'row', alignItems: 'flex-start', gap: 16, marginTop: 20 }}&gt;&#10;                &lt;Box style={{ width: 34, height: 34, background: '#1E4FA8', borderRadius: 6, alignItems: 'center', justifyContent: 'center' }}&gt;&#10;                    &lt;Text style={{ fontSize: 16, color: '#FFFFFF', fontWeight: 'bold' }}&gt;02&lt;/Text&gt;&#10;                &lt;/Box&gt;&#10;                &lt;Text style={{ flex: 1, fontSize: 22, color: '#1A2230', lineHeight: 1.6 }}&gt;验收红线：销量加权 MAPE ≤ 20%，MAE / RMSE 相对移动平均基线降低 ≥ 15%&lt;/Text&gt;&#10;            &lt;/Box&gt;&#10;&#10;            &lt;Box style={{ flexDirection: 'row', alignItems: 'flex-start', gap: 16, marginTop: 20 }}&gt;&#10;                &lt;Box style={{ width: 34, height: 34, background: '#1E4FA8', borderRadius: 6, alignItems: 'center', justifyContent: 'center' }}&gt;&#10;                    &lt;Text style={{ fontSize: 16, color: '#FFFFFF', fontWeight: 'bold' }}&gt;03&lt;/Text&gt;&#10;                &lt;/Box&gt;&#10;                &lt;Text style={{ flex: 1, fontSize: 22, color: '#1A2230', lineHeight: 1.6 }}&gt;系统规模：6 大功能模块、30 条 API 路径、13 个前端页面完整闭环&lt;/Text&gt;&#10;            &lt;/Box&gt;&#10;        &lt;/Box&gt;&#10;    &lt;/Box&gt;&#10;&#10;    &lt;Box style={{ height: 40, width: '100%', flexDirection: 'row', alignItems: 'center', justifyContent: 'space-between' }}&gt;&#10;        &lt;Text style={{ fontSize: 14, color: '#8B97A8' }}&gt;汇报人：吕治　·　2026 年 10 月　·　数据科学与大数据技术（2023.9–2027.6）&lt;/Text&gt;&#10;        &lt;Text style={{ fontSize: 14, color: '#1E4FA8', fontWeight: 'bold' }}&gt;03 / 18&lt;/Text&gt;&#10;    &lt;/Box&gt;&#10;&#10;    &lt;Box style={{ height: 20, width: '100%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5" name=""/>
          <p:cNvSpPr/>
          <p:nvPr/>
        </p:nvSpPr>
        <p:spPr>
          <a:xfrm rot="0" flipH="0" flipV="0">
            <a:off x="381000" y="0"/>
            <a:ext cx="11430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47700" y="28575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电商销量预测系统</a:t>
            </a:r>
            <a:r>
              <a:rPr lang="en-US" sz="1200" b="1" spc="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课程答辩演示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0810875" y="304800"/>
            <a:ext cx="733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项目概况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381000" y="762000"/>
            <a:ext cx="2857500" cy="5524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904875" y="2667000"/>
            <a:ext cx="180975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 spc="15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3676650" y="1876425"/>
            <a:ext cx="781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8B97A8"/>
                </a:solidFill>
                <a:latin typeface="Microsoft YaHei"/>
                <a:ea typeface="Microsoft YaHei"/>
              </a:rPr>
              <a:t>CHAPTER ONE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3676650" y="2162175"/>
            <a:ext cx="78105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Microsoft YaHei"/>
                <a:ea typeface="Microsoft YaHei"/>
              </a:rPr>
              <a:t>项目概况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3676650" y="2838450"/>
            <a:ext cx="6096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63" name=""/>
          <p:cNvSpPr/>
          <p:nvPr/>
        </p:nvSpPr>
        <p:spPr>
          <a:xfrm rot="0" flipH="0" flipV="0">
            <a:off x="3676650" y="31623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3743325" y="3228975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4152900" y="3162300"/>
            <a:ext cx="733425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业务问题：分仓补货长期依赖人工经验，长尾商品在稀疏历史下无据可依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3676650" y="37623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3743325" y="382905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4152900" y="3762375"/>
            <a:ext cx="733425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验收红线：销量加权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MAPE ≤ 20%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，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MAE / RMSE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相对移动平均基线降低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≥ 15%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3676650" y="47625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3743325" y="4829175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4152900" y="4762500"/>
            <a:ext cx="733425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系统规模：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大功能模块、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条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路径、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13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个前端页面完整闭环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477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汇报人：吕治　·　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　·　数据科学与大数据技术（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2023.9–2027.6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03 / 18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74" name="" descr="&lt;Slide style={{ width: 1280, height: 720, padding: '0 40px', background: '#FFFFFF', flexDirection: 'column' }}&gt;&#10;    &lt;Box style={{ height: 80, width: '100%', background: '#0E3F8C', flexDirection: 'row', alignItems: 'center', justifyContent: 'space-between', padding: '0 28px' }}&gt;&#10;        &lt;Text style={{ fontSize: 16, color: '#FFFFFF', fontWeight: 'bold', letterSpacing: 1 }}&gt;电商销量预测系统 · 课程答辩演示&lt;/Text&gt;&#10;        &lt;Text style={{ fontSize: 14, color: '#B9CCEF' }}&gt;01 项目概况 · 问题定义&lt;/Text&gt;&#10;    &lt;/Box&gt;&#10;&#10;    &lt;Box style={{ height: 580, width: '100%', flexDirection: 'column' }}&gt;&#10;        &lt;Box style={{ height: 68, width: '100%', flexDirection: 'row', alignItems: 'center', justifyContent: 'space-between' }}&gt;&#10;            &lt;Text style={{ fontSize: 32, color: '#0E3F8C', fontWeight: 'bold' }}&gt;从业务问题到可验收的硬指标&lt;/Text&gt;&#10;            &lt;Text style={{ fontSize: 15, color: '#8B97A8' }}&gt;数据来源：菜鸟需求预测与分仓规划数据集（天池）&lt;/Text&gt;&#10;        &lt;/Box&gt;&#10;&#10;        &lt;Box style={{ height: 512, width: '100%', flexDirection: 'row' }}&gt;&#10;            &lt;Box style={{ width: 668, background: '#F7F9FC', border: '1px solid #D6DCE5', borderRadius: 10, padding: '20px 24px', flexDirection: 'column' }}&gt;&#10;                &lt;Text style={{ fontSize: 15, color: '#3D7BD9', letterSpacing: 2 }}&gt;问题&lt;/Text&gt;&#10;                &lt;Text style={{ fontSize: 28, color: '#0E3F8C', fontWeight: 'bold', marginTop: 8 }}&gt;稀疏数据下的分仓预测&lt;/Text&gt;&#10;                &lt;Box style={{ width: 48, height: 4, background: '#1E4FA8', marginTop: 12 }} /&gt;&#10;&#10;                &lt;Text style={{ fontSize: 22, color: '#1A2230', lineHeight: 1.62, marginTop: 14 }}&gt;数据集的真实形态是长尾：963 个商品 × 5 个仓库理论上应有 4,815 条序列，但大量商品只覆盖 1–2 个仓库。&lt;br /&gt;&lt;br /&gt;这意味着「每个仓库每个商品都有 450 天历史」这个前提并不成立。若默认它成立，绝大多数序列在推理阶段拿不到足够输入。&lt;/Text&gt;&#10;&#10;                &lt;Box style={{ flex: 1 }} /&gt;&#10;&#10;                &lt;Box style={{ background: '#E8EFF8', borderRadius: 8, padding: '14px 20px', flexDirection: 'row', alignItems: 'center', gap: 22 }}&gt;&#10;                    &lt;Box style={{ flexDirection: 'column' }}&gt;&#10;                        &lt;Text style={{ fontSize: 38, color: '#1E4FA8', fontWeight: 'bold', lineHeight: 1.1 }}&gt;4,815&lt;/Text&gt;&#10;                        &lt;Text style={{ fontSize: 15, color: '#4A5568', marginTop: 6 }}&gt;条理论序列（963 商品 × 5 仓）&lt;/Text&gt;&#10;                    &lt;/Box&gt;&#10;                    &lt;Box style={{ width: 1, height: 68, background: '#C3D3EA' }} /&gt;&#10;                    &lt;Box style={{ flexDirection: 'column' }}&gt;&#10;                        &lt;Text style={{ fontSize: 38, color: '#D9534F', fontWeight: 'bold', lineHeight: 1.1 }}&gt;17,063&lt;/Text&gt;&#10;                        &lt;Text style={{ fontSize: 15, color: '#4A5568', marginTop: 6 }}&gt;条缺失仓库样本&lt;/Text&gt;&#10;                    &lt;/Box&gt;&#10;                &lt;/Box&gt;&#10;            &lt;/Box&gt;&#10;&#10;            &lt;Box style={{ width: 532, paddingLeft: 24, flexDirection: 'column' }}&gt;&#10;                &lt;Box style={{ height: 286, background: '#FFFFFF', border: '1px solid #D6DCE5', borderRadius: 10, padding: '20px 22px', flexDirection: 'column' }}&gt;&#10;                    &lt;Text style={{ fontSize: 15, color: '#D9534F', letterSpacing: 2 }}&gt;硬指标红线&lt;/Text&gt;&#10;                    &lt;Text style={{ fontSize: 24, color: '#0E3F8C', fontWeight: 'bold', marginTop: 8 }}&gt;三条可被第三方复核的指标&lt;/Text&gt;&#10;&#10;                    &lt;Box style={{ height: 56, background: '#F0F5FC', borderRadius: 8, padding: '0 16px', flexDirection: 'row', alignItems: 'center', marginTop: 14 }}&gt;&#10;                        &lt;Text style={{ flex: 1, fontSize: 18, color: '#4A5568' }}&gt;销量加权 MAPE&lt;/Text&gt;&#10;                        &lt;Text style={{ fontSize: 22, color: '#1E4FA8', fontWeight: 'bold' }}&gt;≤ 20%&lt;/Text&gt;&#10;                    &lt;/Box&gt;&#10;                    &lt;Box style={{ height: 56, background: '#F0F5FC', borderRadius: 8, padding: '0 16px', flexDirection: 'row', alignItems: 'center', marginTop: 8 }}&gt;&#10;                        &lt;Text style={{ flex: 1, fontSize: 18, color: '#4A5568' }}&gt;MAE 相对基线降低&lt;/Text&gt;&#10;                        &lt;Text style={{ fontSize: 22, color: '#1E4FA8', fontWeight: 'bold' }}&gt;≥ 15%&lt;/Text&gt;&#10;                    &lt;/Box&gt;&#10;                    &lt;Box style={{ height: 56, background: '#F0F5FC', borderRadius: 8, padding: '0 16px', flexDirection: 'row', alignItems: 'center', marginTop: 8 }}&gt;&#10;                        &lt;Text style={{ flex: 1, fontSize: 18, color: '#4A5568' }}&gt;RMSE 相对基线降低&lt;/Text&gt;&#10;                        &lt;Text style={{ fontSize: 22, color: '#1E4FA8', fontWeight: 'bold' }}&gt;≥ 15%&lt;/Text&gt;&#10;                    &lt;/Box&gt;&#10;                &lt;/Box&gt;&#10;&#10;                &lt;Box style={{ height: 210, background: '#F7F9FC', border: '1px solid #D6DCE5', borderRadius: 10, padding: 14, flexDirection: 'row', alignItems: 'center', marginTop: 16 }}&gt;&#10;                    &lt;Box style={{ width: 264, height: 158, borderRadius: 6, overflow: 'hidden', background: '#FFFFFF' }}&gt;&#10;                        &lt;Image src='assets/upload.png' style={{ width: '100%', height: '100%', objectFit: 'cover', objectPosition: 'top' }} /&gt;&#10;                    &lt;/Box&gt;&#10;                    &lt;Box style={{ flex: 1, paddingLeft: 16, flexDirection: 'column' }}&gt;&#10;                        &lt;Text style={{ fontSize: 20, color: '#0E3F8C', fontWeight: 'bold' }}&gt;数据集上传页&lt;/Text&gt;&#10;                        &lt;Text style={{ fontSize: 16, color: '#8B97A8', lineHeight: 1.5, marginTop: 8 }}&gt;四列英文表头契约，仓库列缺失直接拒收&lt;/Text&gt;&#10;                    &lt;/Box&gt;&#10;                &lt;/Box&gt;&#10;            &lt;/Box&gt;&#10;        &lt;/Box&gt;&#10;    &lt;/Box&gt;&#10;&#10;    &lt;Box style={{ height: 40, width: '100%', flexDirection: 'row', alignItems: 'center', justifyContent: 'space-between' }}&gt;&#10;        &lt;Text style={{ fontSize: 14, color: '#8B97A8' }}&gt;汇报人：吕治　·　2026 年 10 月　·　数据科学与大数据技术（2023.9–2027.6）&lt;/Text&gt;&#10;        &lt;Text style={{ fontSize: 14, color: '#1E4FA8', fontWeight: 'bold' }}&gt;04 / 18&lt;/Text&gt;&#10;    &lt;/Box&gt;&#10;&#10;    &lt;Box style={{ height: 20, width: '100%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6" name=""/>
          <p:cNvSpPr/>
          <p:nvPr/>
        </p:nvSpPr>
        <p:spPr>
          <a:xfrm rot="0" flipH="0" flipV="0">
            <a:off x="381000" y="0"/>
            <a:ext cx="11430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47700" y="28575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电商销量预测系统</a:t>
            </a:r>
            <a:r>
              <a:rPr lang="en-US" sz="1200" b="1" spc="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课程答辩演示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10163175" y="304800"/>
            <a:ext cx="1381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项目概况</a:t>
            </a: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问题定义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381000" y="904875"/>
            <a:ext cx="3962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从业务问题到可验收的硬指标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8524875" y="1000125"/>
            <a:ext cx="3286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数据来源：菜鸟需求预测与分仓规划数据集（天池）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381000" y="1409700"/>
            <a:ext cx="6362700" cy="4876800"/>
          </a:xfrm>
          <a:prstGeom prst="roundRect">
            <a:avLst>
              <a:gd name="adj" fmla="val 195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09600" y="1600200"/>
            <a:ext cx="590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3D7BD9"/>
                </a:solidFill>
                <a:latin typeface="Microsoft YaHei"/>
                <a:ea typeface="Microsoft YaHei"/>
              </a:rPr>
              <a:t>问题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609600" y="1847850"/>
            <a:ext cx="5905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E3F8C"/>
                </a:solidFill>
                <a:latin typeface="Microsoft YaHei"/>
                <a:ea typeface="Microsoft YaHei"/>
              </a:rPr>
              <a:t>稀疏数据下的分仓预测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609600" y="2286000"/>
            <a:ext cx="4572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609600" y="2457450"/>
            <a:ext cx="5905500" cy="2447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数据集的真实形态是长尾：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963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个商品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× 5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个仓库理论上应有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4,815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条序列，但大量商品只覆盖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1–2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个仓库。</a:t>
            </a:r>
            <a:endParaRPr/>
          </a:p>
          <a:p>
            <a:pPr>
              <a:lnSpc>
                <a:spcPct val="162000"/>
              </a:lnSpc>
            </a:pPr>
            <a:r>
              <a:rPr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62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这意味着「每个仓库每个商品都有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450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天历史」这个前提并不成立。若默认它成立，绝大多数序列在推理阶段拿不到足够输入。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609600" y="5114925"/>
            <a:ext cx="5905500" cy="981075"/>
          </a:xfrm>
          <a:prstGeom prst="roundRect">
            <a:avLst>
              <a:gd name="adj" fmla="val 776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00100" y="5248275"/>
            <a:ext cx="2047875" cy="4857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850" b="1">
                <a:solidFill>
                  <a:srgbClr val="1E4FA8"/>
                </a:solidFill>
                <a:latin typeface="Microsoft YaHei"/>
                <a:ea typeface="Microsoft YaHei"/>
              </a:rPr>
              <a:t>4,815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00100" y="5791200"/>
            <a:ext cx="2047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条理论序列（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963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商品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× 5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仓）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3057525" y="5286375"/>
            <a:ext cx="9525" cy="647700"/>
          </a:xfrm>
          <a:prstGeom prst="rect">
            <a:avLst/>
          </a:prstGeom>
          <a:solidFill>
            <a:srgbClr val="C3D3EA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3276600" y="5248275"/>
            <a:ext cx="1228725" cy="4857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850" b="1">
                <a:solidFill>
                  <a:srgbClr val="D9534F"/>
                </a:solidFill>
                <a:latin typeface="Microsoft YaHei"/>
                <a:ea typeface="Microsoft YaHei"/>
              </a:rPr>
              <a:t>17,063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3276600" y="5791200"/>
            <a:ext cx="1228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条缺失仓库样本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6972300" y="1409700"/>
            <a:ext cx="4838700" cy="272415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181850" y="1600200"/>
            <a:ext cx="441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D9534F"/>
                </a:solidFill>
                <a:latin typeface="Microsoft YaHei"/>
                <a:ea typeface="Microsoft YaHei"/>
              </a:rPr>
              <a:t>硬指标红线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7181850" y="1847850"/>
            <a:ext cx="4419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三条可被第三方复核的指标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7181850" y="2257425"/>
            <a:ext cx="44196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7334250" y="2419350"/>
            <a:ext cx="3438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销量加权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MAPE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10772775" y="2400300"/>
            <a:ext cx="676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≤ 20%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7181850" y="2867025"/>
            <a:ext cx="44196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7334250" y="3028950"/>
            <a:ext cx="3438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MAE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相对基线降低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10772775" y="3009900"/>
            <a:ext cx="676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≥ 15%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7181850" y="3476625"/>
            <a:ext cx="44196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7334250" y="3638550"/>
            <a:ext cx="3438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RMSE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相对基线降低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10772775" y="3619500"/>
            <a:ext cx="676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≥ 15%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972300" y="4286250"/>
            <a:ext cx="4838700" cy="200025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7105650" y="4533900"/>
            <a:ext cx="2514600" cy="150495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06" name=""/>
          <p:cNvPicPr>
            <a:picLocks noChangeAspect="1"/>
          </p:cNvPicPr>
          <p:nvPr/>
        </p:nvPicPr>
        <p:blipFill>
          <a:blip r:embed="rId1"/>
          <a:srcRect l="0" t="1735" r="0" b="1735"/>
          <a:stretch>
            <a:fillRect/>
          </a:stretch>
        </p:blipFill>
        <p:spPr>
          <a:xfrm rot="0" flipH="0" flipV="0">
            <a:off x="7105650" y="4533900"/>
            <a:ext cx="2514600" cy="1504950"/>
          </a:xfrm>
          <a:custGeom>
            <a:pathLst>
              <a:path w="264" h="158">
                <a:moveTo>
                  <a:pt x="258" y="0"/>
                </a:moveTo>
                <a:cubicBezTo>
                  <a:pt x="261" y="0"/>
                  <a:pt x="264" y="3"/>
                  <a:pt x="264" y="6"/>
                </a:cubicBezTo>
                <a:lnTo>
                  <a:pt x="264" y="152"/>
                </a:lnTo>
                <a:cubicBezTo>
                  <a:pt x="264" y="155"/>
                  <a:pt x="261" y="158"/>
                  <a:pt x="258" y="158"/>
                </a:cubicBezTo>
                <a:lnTo>
                  <a:pt x="6" y="158"/>
                </a:lnTo>
                <a:cubicBezTo>
                  <a:pt x="3" y="158"/>
                  <a:pt x="0" y="155"/>
                  <a:pt x="0" y="15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258" y="0"/>
                </a:lnTo>
                <a:close/>
              </a:path>
            </a:pathLst>
          </a:custGeom>
          <a:ln/>
        </p:spPr>
      </p:pic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9772650" y="4857750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数据集上传页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9772650" y="5162550"/>
            <a:ext cx="1905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四列英文表头契约，仓库列缺失直接拒收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477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汇报人：吕治　·　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　·　数据科学与大数据技术（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2023.9–2027.6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18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11" name="" descr="&lt;Slide style={{ width: 1280, height: 720, padding: '0 40px', background: '#FFFFFF', flexDirection: 'column' }}&gt;&#10;    &lt;Box style={{ height: 80, width: '100%', background: '#0E3F8C', flexDirection: 'row', alignItems: 'center', justifyContent: 'space-between', padding: '0 28px' }}&gt;&#10;        &lt;Text style={{ fontSize: 16, color: '#FFFFFF', fontWeight: 'bold', letterSpacing: 1 }}&gt;电商销量预测系统 · 课程答辩演示&lt;/Text&gt;&#10;        &lt;Text style={{ fontSize: 14, color: '#B9CCEF' }}&gt;01 项目概况 · 系统全景&lt;/Text&gt;&#10;    &lt;/Box&gt;&#10;&#10;    &lt;Box style={{ height: 580, width: '100%', flexDirection: 'column' }}&gt;&#10;        &lt;Box style={{ height: 68, width: '100%', flexDirection: 'row', alignItems: 'center', justifyContent: 'space-between' }}&gt;&#10;            &lt;Text style={{ fontSize: 32, color: '#0E3F8C', fontWeight: 'bold' }}&gt;系统全景：六大模块闭环&lt;/Text&gt;&#10;            &lt;Text style={{ fontSize: 15, color: '#8B97A8' }}&gt;接口数据来自 exports 的 OpenAPI 规范（自动导出）&lt;/Text&gt;&#10;        &lt;/Box&gt;&#10;&#10;        &lt;Box style={{ height: 512, width: '100%', flexDirection: 'column' }}&gt;&#10;            &lt;Box style={{ height: 244, width: '100%', flexDirection: 'row', alignItems: 'center', borderBottom: '1px solid #E5E7EB' }}&gt;&#10;                &lt;Box style={{ flex: 1, flexDirection: 'column', alignItems: 'center' }}&gt;&#10;                    &lt;Text style={{ fontSize: 76, color: '#1E4FA8', fontWeight: 'bold', lineHeight: 1 }}&gt;06&lt;/Text&gt;&#10;                    &lt;Text style={{ fontSize: 20, color: '#4A5568', marginTop: 14 }}&gt;功能模块&lt;/Text&gt;&#10;                    &lt;Text style={{ fontSize: 15, color: '#8B97A8', marginTop: 6 }}&gt;上传 / 特征 / 预测 / 可视化 / 历史 / 用户&lt;/Text&gt;&#10;                &lt;/Box&gt;&#10;                &lt;Box style={{ width: 1, height: 132, background: '#E5E7EB' }} /&gt;&#10;                &lt;Box style={{ flex: 1, flexDirection: 'column', alignItems: 'center' }}&gt;&#10;                    &lt;Text style={{ fontSize: 76, color: '#1E4FA8', fontWeight: 'bold', lineHeight: 1 }}&gt;30&lt;/Text&gt;&#10;                    &lt;Text style={{ fontSize: 20, color: '#4A5568', marginTop: 14 }}&gt;API 路径&lt;/Text&gt;&#10;                    &lt;Text style={{ fontSize: 15, color: '#8B97A8', marginTop: 6 }}&gt;32 个操作 / 78 个 Schema&lt;/Text&gt;&#10;                &lt;/Box&gt;&#10;                &lt;Box style={{ width: 1, height: 132, background: '#E5E7EB' }} /&gt;&#10;                &lt;Box style={{ flex: 1, flexDirection: 'column', alignItems: 'center' }}&gt;&#10;                    &lt;Text style={{ fontSize: 76, color: '#1E4FA8', fontWeight: 'bold', lineHeight: 1 }}&gt;13&lt;/Text&gt;&#10;                    &lt;Text style={{ fontSize: 20, color: '#4A5568', marginTop: 14 }}&gt;前端页面&lt;/Text&gt;&#10;                    &lt;Text style={{ fontSize: 15, color: '#8B97A8', marginTop: 6 }}&gt;含管理端看板与用户管理&lt;/Text&gt;&#10;                &lt;/Box&gt;&#10;                &lt;Box style={{ width: 1, height: 132, background: '#E5E7EB' }} /&gt;&#10;                &lt;Box style={{ flex: 1, flexDirection: 'column', alignItems: 'center' }}&gt;&#10;                    &lt;Text style={{ fontSize: 76, color: '#1E4FA8', fontWeight: 'bold', lineHeight: 1 }}&gt;121&lt;/Text&gt;&#10;                    &lt;Text style={{ fontSize: 20, color: '#4A5568', marginTop: 14 }}&gt;数据表列&lt;/Text&gt;&#10;                    &lt;Text style={{ fontSize: 15, color: '#8B97A8', marginTop: 6 }}&gt;8 张表 / 1 视图 / 3 触发器&lt;/Text&gt;&#10;                &lt;/Box&gt;&#10;            &lt;/Box&gt;&#10;&#10;            &lt;Box style={{ height: 268, width: '100%', flexDirection: 'row', paddingTop: 22 }}&gt;&#10;                &lt;Box style={{ width: 748, paddingRight: 26, flexDirection: 'column' }}&gt;&#10;                    &lt;Text style={{ fontSize: 15, color: '#3D7BD9', letterSpacing: 2 }}&gt;洞察&lt;/Text&gt;&#10;                    &lt;Text style={{ fontSize: 27, color: '#0E3F8C', fontWeight: 'bold', marginTop: 8 }}&gt;模块边界不靠文档描述，而靠契约约束&lt;/Text&gt;&#10;                    &lt;Text style={{ fontSize: 22, color: '#1A2230', lineHeight: 1.6, marginTop: 14 }}&gt;四个数字背后是同一条链路：上传与校验 → 特征构建 → LSTM 推理 → 图表与导出 → 历史归档 → 按用户隔离。30 条接口全部在 OpenAPI 中显式声明，13 个页面都由真实接口驱动，没有写死的假数据。&lt;/Text&gt;&#10;                &lt;/Box&gt;&#10;&#10;                &lt;Box style={{ width: 452, flexDirection: 'column' }}&gt;&#10;                    &lt;Box style={{ width: '100%', height: 196, border: '1px solid #D6DCE5', borderRadius: 10, overflow: 'hidden', background: '#F7F9FC' }}&gt;&#10;                        &lt;Image src='assets/admin_dash.png' style={{ width: '100%', height: '100%', objectFit: 'cover', objectPosition: 'top' }} /&gt;&#10;                    &lt;/Box&gt;&#10;                    &lt;Text style={{ fontSize: 14, color: '#8B97A8', marginTop: 8 }}&gt;图 2　管理端看板（真实运行截图，Chromium 1600px 视口）&lt;/Text&gt;&#10;                &lt;/Box&gt;&#10;            &lt;/Box&gt;&#10;        &lt;/Box&gt;&#10;    &lt;/Box&gt;&#10;&#10;    &lt;Box style={{ height: 40, width: '100%', flexDirection: 'row', alignItems: 'center', justifyContent: 'space-between' }}&gt;&#10;        &lt;Text style={{ fontSize: 14, color: '#8B97A8' }}&gt;汇报人：吕治　·　2026 年 10 月　·　数据科学与大数据技术（2023.9–2027.6）&lt;/Text&gt;&#10;        &lt;Text style={{ fontSize: 14, color: '#1E4FA8', fontWeight: 'bold' }}&gt;05 / 18&lt;/Text&gt;&#10;    &lt;/Box&gt;&#10;&#10;    &lt;Box style={{ height: 20, width: '100%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3" name=""/>
          <p:cNvSpPr/>
          <p:nvPr/>
        </p:nvSpPr>
        <p:spPr>
          <a:xfrm rot="0" flipH="0" flipV="0">
            <a:off x="381000" y="0"/>
            <a:ext cx="11430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647700" y="28575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电商销量预测系统</a:t>
            </a:r>
            <a:r>
              <a:rPr lang="en-US" sz="1200" b="1" spc="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课程答辩演示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10163175" y="304800"/>
            <a:ext cx="1381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项目概况</a:t>
            </a: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系统全景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381000" y="904875"/>
            <a:ext cx="335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系统全景：六大模块闭环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8372475" y="1000125"/>
            <a:ext cx="3438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接口数据来自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exports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的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OpenAPI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规范（自动导出）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381000" y="1409700"/>
            <a:ext cx="11430000" cy="2324100"/>
          </a:xfrm>
          <a:custGeom>
            <a:pathLst>
              <a:path w="1200" h="244">
                <a:moveTo>
                  <a:pt x="0" y="243"/>
                </a:moveTo>
                <a:lnTo>
                  <a:pt x="1200" y="243"/>
                </a:lnTo>
                <a:lnTo>
                  <a:pt x="1200" y="244"/>
                </a:lnTo>
                <a:lnTo>
                  <a:pt x="0" y="24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1362075" y="1838325"/>
            <a:ext cx="8953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1E4FA8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1428750" y="28479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功能模块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514350" y="3133725"/>
            <a:ext cx="2590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上传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特征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预测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可视化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历史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用户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3228975" y="1943100"/>
            <a:ext cx="9525" cy="12573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4219575" y="1838325"/>
            <a:ext cx="8953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1E4FA8"/>
                </a:solidFill>
                <a:latin typeface="Microsoft YaHei"/>
                <a:ea typeface="Microsoft YaHei"/>
              </a:rPr>
              <a:t>30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4295775" y="2847975"/>
            <a:ext cx="752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API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路径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3810000" y="3133725"/>
            <a:ext cx="1724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32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个操作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/ 78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个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Schema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6096000" y="1943100"/>
            <a:ext cx="9525" cy="12573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7086600" y="1838325"/>
            <a:ext cx="8953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1E4FA8"/>
                </a:solidFill>
                <a:latin typeface="Microsoft YaHei"/>
                <a:ea typeface="Microsoft YaHei"/>
              </a:rPr>
              <a:t>13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7153275" y="28479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前端页面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6743700" y="3133725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含管理端看板与用户管理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8953500" y="1943100"/>
            <a:ext cx="9525" cy="12573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9715500" y="1838325"/>
            <a:ext cx="1343025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1E4FA8"/>
                </a:solidFill>
                <a:latin typeface="Microsoft YaHei"/>
                <a:ea typeface="Microsoft YaHei"/>
              </a:rPr>
              <a:t>121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10010775" y="28479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数据表列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9553575" y="3133725"/>
            <a:ext cx="1676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张表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/ 1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视图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/ 3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触发器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381000" y="3943350"/>
            <a:ext cx="6877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3D7BD9"/>
                </a:solidFill>
                <a:latin typeface="Microsoft YaHei"/>
                <a:ea typeface="Microsoft YaHei"/>
              </a:rPr>
              <a:t>洞察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381000" y="4191000"/>
            <a:ext cx="68770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E3F8C"/>
                </a:solidFill>
                <a:latin typeface="Microsoft YaHei"/>
                <a:ea typeface="Microsoft YaHei"/>
              </a:rPr>
              <a:t>模块边界不靠文档描述，而靠契约约束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381000" y="4638675"/>
            <a:ext cx="687705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四个数字背后是同一条链路：上传与校验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特征构建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LSTM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推理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图表与导出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历史归档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按用户隔离。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条接口全部在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OpenAPI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中显式声明，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13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个页面都由真实接口驱动，没有写死的假数据。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7505700" y="3943350"/>
            <a:ext cx="4305300" cy="1866900"/>
          </a:xfrm>
          <a:prstGeom prst="roundRect">
            <a:avLst>
              <a:gd name="adj" fmla="val 510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438" name=""/>
          <p:cNvPicPr>
            <a:picLocks noChangeAspect="1"/>
          </p:cNvPicPr>
          <p:nvPr/>
        </p:nvPicPr>
        <p:blipFill>
          <a:blip r:embed="rId1"/>
          <a:srcRect l="0" t="20068" r="0" b="20068"/>
          <a:stretch>
            <a:fillRect/>
          </a:stretch>
        </p:blipFill>
        <p:spPr>
          <a:xfrm rot="0" flipH="0" flipV="0">
            <a:off x="7505700" y="3943350"/>
            <a:ext cx="4305300" cy="1866900"/>
          </a:xfrm>
          <a:custGeom>
            <a:pathLst>
              <a:path w="452" h="196">
                <a:moveTo>
                  <a:pt x="442" y="0"/>
                </a:moveTo>
                <a:cubicBezTo>
                  <a:pt x="448" y="0"/>
                  <a:pt x="452" y="5"/>
                  <a:pt x="452" y="10"/>
                </a:cubicBezTo>
                <a:lnTo>
                  <a:pt x="452" y="186"/>
                </a:lnTo>
                <a:cubicBezTo>
                  <a:pt x="452" y="192"/>
                  <a:pt x="448" y="196"/>
                  <a:pt x="442" y="196"/>
                </a:cubicBezTo>
                <a:lnTo>
                  <a:pt x="10" y="196"/>
                </a:lnTo>
                <a:cubicBezTo>
                  <a:pt x="4" y="196"/>
                  <a:pt x="0" y="192"/>
                  <a:pt x="0" y="186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442" y="0"/>
                </a:lnTo>
                <a:close/>
              </a:path>
            </a:pathLst>
          </a:custGeom>
          <a:ln/>
        </p:spPr>
      </p:pic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7505700" y="5886450"/>
            <a:ext cx="430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　管理端看板（真实运行截图，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Chromium 1600px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视口）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477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汇报人：吕治　·　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　·　数据科学与大数据技术（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2023.9–2027.6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05 / 18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442" name="" descr="&lt;Slide style={{ width: 1280, height: 720, padding: '0 40px', background: '#FFFFFF', flexDirection: 'column' }}&gt;&#10;    &lt;Box style={{ height: 80, width: '100%', background: '#0E3F8C', flexDirection: 'row', alignItems: 'center', justifyContent: 'space-between', padding: '0 28px' }}&gt;&#10;        &lt;Text style={{ fontSize: 16, color: '#FFFFFF', fontWeight: 'bold', letterSpacing: 1 }}&gt;电商销量预测系统 · 课程答辩演示&lt;/Text&gt;&#10;        &lt;Text style={{ fontSize: 14, color: '#B9CCEF' }}&gt;02 技术方案&lt;/Text&gt;&#10;    &lt;/Box&gt;&#10;&#10;    &lt;Box style={{ height: 580, width: '100%', flexDirection: 'row' }}&gt;&#10;        &lt;Box style={{ width: 300, height: 580, background: '#0E3F8C', alignItems: 'center', justifyContent: 'center' }}&gt;&#10;            &lt;Text style={{ fontSize: 150, color: '#FFFFFF', fontWeight: 'bold', letterSpacing: 2 }}&gt;02&lt;/Text&gt;&#10;        &lt;/Box&gt;&#10;&#10;        &lt;Box style={{ width: 900, height: 580, padding: '0 34px 0 46px', flexDirection: 'column', justifyContent: 'center' }}&gt;&#10;            &lt;Text style={{ fontSize: 15, color: '#8B97A8', letterSpacing: 3 }}&gt;CHAPTER TWO&lt;/Text&gt;&#10;            &lt;Text style={{ fontSize: 44, color: '#0E3F8C', fontWeight: 'bold', marginTop: 12 }}&gt;技术方案&lt;/Text&gt;&#10;            &lt;Box style={{ width: 64, height: 4, background: '#3D7BD9', marginTop: 18 }} /&gt;&#10;&#10;            &lt;Box style={{ flexDirection: 'row', alignItems: 'flex-start', gap: 16, marginTop: 30 }}&gt;&#10;                &lt;Box style={{ width: 34, height: 34, background: '#1E4FA8', borderRadius: 6, alignItems: 'center', justifyContent: 'center' }}&gt;&#10;                    &lt;Text style={{ fontSize: 16, color: '#FFFFFF', fontWeight: 'bold' }}&gt;01&lt;/Text&gt;&#10;                &lt;/Box&gt;&#10;                &lt;Text style={{ flex: 1, fontSize: 22, color: '#1A2230', lineHeight: 1.6 }}&gt;技术栈锁定与四层架构：api → services → dao → models 逐层收敛职责&lt;/Text&gt;&#10;            &lt;/Box&gt;&#10;&#10;            &lt;Box style={{ flexDirection: 'row', alignItems: 'flex-start', gap: 16, marginTop: 20 }}&gt;&#10;                &lt;Box style={{ width: 34, height: 34, background: '#1E4FA8', borderRadius: 6, alignItems: 'center', justifyContent: 'center' }}&gt;&#10;                    &lt;Text style={{ fontSize: 16, color: '#FFFFFF', fontWeight: 'bold' }}&gt;02&lt;/Text&gt;&#10;                &lt;/Box&gt;&#10;                &lt;Text style={{ flex: 1, fontSize: 22, color: '#1A2230', lineHeight: 1.6 }}&gt;算法设计五条铁律：学残差、按序列切分、过滤退化序列、保护营销节点、主指标只算 L1&lt;/Text&gt;&#10;            &lt;/Box&gt;&#10;&#10;            &lt;Box style={{ flexDirection: 'row', alignItems: 'flex-start', gap: 16, marginTop: 20 }}&gt;&#10;                &lt;Box style={{ width: 34, height: 34, background: '#1E4FA8', borderRadius: 6, alignItems: 'center', justifyContent: 'center' }}&gt;&#10;                    &lt;Text style={{ fontSize: 16, color: '#FFFFFF', fontWeight: 'bold' }}&gt;03&lt;/Text&gt;&#10;                &lt;/Box&gt;&#10;                &lt;Text style={{ flex: 1, fontSize: 22, color: '#1A2230', lineHeight: 1.6 }}&gt;三级降级兜底：本仓不足则跨仓聚合，聚合仍不足则明确标注不可预测&lt;/Text&gt;&#10;            &lt;/Box&gt;&#10;        &lt;/Box&gt;&#10;    &lt;/Box&gt;&#10;&#10;    &lt;Box style={{ height: 40, width: '100%', flexDirection: 'row', alignItems: 'center', justifyContent: 'space-between' }}&gt;&#10;        &lt;Text style={{ fontSize: 14, color: '#8B97A8' }}&gt;汇报人：吕治　·　2026 年 10 月　·　数据科学与大数据技术（2023.9–2027.6）&lt;/Text&gt;&#10;        &lt;Text style={{ fontSize: 14, color: '#1E4FA8', fontWeight: 'bold' }}&gt;06 / 18&lt;/Text&gt;&#10;    &lt;/Box&gt;&#10;&#10;    &lt;Box style={{ height: 20, width: '100%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4" name=""/>
          <p:cNvSpPr/>
          <p:nvPr/>
        </p:nvSpPr>
        <p:spPr>
          <a:xfrm rot="0" flipH="0" flipV="0">
            <a:off x="381000" y="0"/>
            <a:ext cx="11430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647700" y="28575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电商销量预测系统</a:t>
            </a:r>
            <a:r>
              <a:rPr lang="en-US" sz="1200" b="1" spc="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课程答辩演示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0810875" y="304800"/>
            <a:ext cx="733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技术方案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381000" y="762000"/>
            <a:ext cx="2857500" cy="5524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904875" y="2667000"/>
            <a:ext cx="180975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 spc="15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3676650" y="1876425"/>
            <a:ext cx="781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8B97A8"/>
                </a:solidFill>
                <a:latin typeface="Microsoft YaHei"/>
                <a:ea typeface="Microsoft YaHei"/>
              </a:rPr>
              <a:t>CHAPTER TWO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3676650" y="2162175"/>
            <a:ext cx="78105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Microsoft YaHei"/>
                <a:ea typeface="Microsoft YaHei"/>
              </a:rPr>
              <a:t>技术方案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3676650" y="2838450"/>
            <a:ext cx="6096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52" name=""/>
          <p:cNvSpPr/>
          <p:nvPr/>
        </p:nvSpPr>
        <p:spPr>
          <a:xfrm rot="0" flipH="0" flipV="0">
            <a:off x="3676650" y="31623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3743325" y="3228975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4152900" y="3162300"/>
            <a:ext cx="733425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技术栈锁定与四层架构：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api → services → dao → models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逐层收敛职责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3676650" y="37623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3743325" y="382905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4152900" y="3762375"/>
            <a:ext cx="733425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算法设计五条铁律：学残差、按序列切分、过滤退化序列、保护营销节点、主指标只算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L1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3676650" y="47625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3743325" y="4829175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4152900" y="4762500"/>
            <a:ext cx="733425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三级降级兜底：本仓不足则跨仓聚合，聚合仍不足则明确标注不可预测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477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汇报人：吕治　·　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　·　数据科学与大数据技术（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2023.9–2027.6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18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63" name="" descr="&lt;Slide style={{ width: 1280, height: 720, padding: '0 40px', background: '#FFFFFF', flexDirection: 'column' }}&gt;&#10;    &lt;Box style={{ height: 80, width: '100%', background: '#0E3F8C', flexDirection: 'row', alignItems: 'center', justifyContent: 'space-between', padding: '0 28px' }}&gt;&#10;        &lt;Text style={{ fontSize: 16, color: '#FFFFFF', fontWeight: 'bold', letterSpacing: 1 }}&gt;电商销量预测系统 · 课程答辩演示&lt;/Text&gt;&#10;        &lt;Text style={{ fontSize: 14, color: '#B9CCEF' }}&gt;02 技术方案 · 技术选型&lt;/Text&gt;&#10;    &lt;/Box&gt;&#10;&#10;    &lt;Box style={{ height: 580, width: '100%', flexDirection: 'row' }}&gt;&#10;        &lt;Box style={{ width: 330, height: 580, background: '#0E3F8C', padding: '26px 26px', flexDirection: 'column' }}&gt;&#10;            &lt;Text style={{ fontSize: 15, color: '#7BA3E0', letterSpacing: 2 }}&gt;技术栈&lt;/Text&gt;&#10;            &lt;Text style={{ fontSize: 30, color: '#FFFFFF', fontWeight: 'bold', lineHeight: 1.28, marginTop: 10 }}&gt;技术栈与四层架构&lt;/Text&gt;&#10;            &lt;Box style={{ width: 44, height: 4, background: '#3D7BD9', marginTop: 14 }} /&gt;&#10;            &lt;Text style={{ fontSize: 16, color: '#C7D8F2', lineHeight: 1.6, marginTop: 14 }}&gt;全部版本写入交付文档，换机器部署时不因依赖漂移改变行为。&lt;/Text&gt;&#10;&#10;            &lt;Box style={{ flex: 1 }} /&gt;&#10;&#10;            &lt;Box style={{ width: 278, height: 176, borderRadius: 8, overflow: 'hidden', background: '#FFFFFF' }}&gt;&#10;                &lt;Image src='assets/home.png' style={{ width: '100%', height: '100%', objectFit: 'cover', objectPosition: 'top' }} /&gt;&#10;            &lt;/Box&gt;&#10;            &lt;Text style={{ fontSize: 14, color: '#8FB0E4', lineHeight: 1.5, marginTop: 8 }}&gt;首页：低频商品占比与覆盖率提示直接暴露给用户&lt;/Text&gt;&#10;        &lt;/Box&gt;&#10;&#10;        &lt;Box style={{ width: 870, height: 580, paddingLeft: 30, flexDirection: 'column', justifyContent: 'center' }}&gt;&#10;            &lt;Box style={{ flexDirection: 'row', alignItems: 'center', height: 96, borderBottom: '1px solid #E5E7EB' }}&gt;&#10;                &lt;Text style={{ width: 250, fontSize: 22, color: '#0E3F8C', fontWeight: 'bold' }}&gt;api / v1　接入层&lt;/Text&gt;&#10;                &lt;Text style={{ flex: 1, fontSize: 22, color: '#4A5568' }}&gt;30 条路由、鉴权与请求校验&lt;/Text&gt;&#10;                &lt;Text style={{ width: 200, fontSize: 17, color: '#3D7BD9', textAlign: 'right' }}&gt;FastAPI 0.141.1&lt;/Text&gt;&#10;            &lt;/Box&gt;&#10;&#10;            &lt;Box style={{ flexDirection: 'row', alignItems: 'center', height: 96, borderBottom: '1px solid #E5E7EB' }}&gt;&#10;                &lt;Text style={{ width: 250, fontSize: 22, color: '#0E3F8C', fontWeight: 'bold' }}&gt;services　服务层&lt;/Text&gt;&#10;                &lt;Text style={{ flex: 1, fontSize: 22, color: '#4A5568' }}&gt;上传、训练、预测、导出编排&lt;/Text&gt;&#10;                &lt;Text style={{ width: 200, fontSize: 17, color: '#3D7BD9', textAlign: 'right' }}&gt;Uvicorn 0.35&lt;/Text&gt;&#10;            &lt;/Box&gt;&#10;&#10;            &lt;Box style={{ flexDirection: 'row', alignItems: 'center', height: 96, borderBottom: '1px solid #E5E7EB' }}&gt;&#10;                &lt;Text style={{ width: 250, fontSize: 22, color: '#0E3F8C', fontWeight: 'bold' }}&gt;dao　数据访问层&lt;/Text&gt;&#10;                &lt;Text style={{ flex: 1, fontSize: 22, color: '#4A5568' }}&gt;单库读写与 WAL 事务边界&lt;/Text&gt;&#10;                &lt;Text style={{ width: 200, fontSize: 17, color: '#3D7BD9', textAlign: 'right' }}&gt;SQLite 3 · WAL&lt;/Text&gt;&#10;            &lt;/Box&gt;&#10;&#10;            &lt;Box style={{ flexDirection: 'row', alignItems: 'center', height: 96, borderBottom: '1px solid #E5E7EB' }}&gt;&#10;                &lt;Text style={{ width: 250, fontSize: 22, color: '#0E3F8C', fontWeight: 'bold' }}&gt;app / algo　算法层&lt;/Text&gt;&#10;                &lt;Text style={{ flex: 1, fontSize: 22, color: '#4A5568' }}&gt;特征、训练、推理与三级降级&lt;/Text&gt;&#10;                &lt;Text style={{ width: 200, fontSize: 17, color: '#3D7BD9', textAlign: 'right' }}&gt;PyTorch 2.9.1+cu128&lt;/Text&gt;&#10;            &lt;/Box&gt;&#10;&#10;            &lt;Box style={{ flexDirection: 'row', alignItems: 'center', height: 96 }}&gt;&#10;                &lt;Text style={{ width: 250, fontSize: 22, color: '#0E3F8C', fontWeight: 'bold' }}&gt;web　前端层&lt;/Text&gt;&#10;                &lt;Text style={{ flex: 1, fontSize: 22, color: '#4A5568' }}&gt;13 个页面、图表懒加载&lt;/Text&gt;&#10;                &lt;Text style={{ width: 200, fontSize: 17, color: '#3D7BD9', textAlign: 'right' }}&gt;React 18.3.1&lt;/Text&gt;&#10;            &lt;/Box&gt;&#10;        &lt;/Box&gt;&#10;    &lt;/Box&gt;&#10;&#10;    &lt;Box style={{ height: 40, width: '100%', flexDirection: 'row', alignItems: 'center', justifyContent: 'space-between' }}&gt;&#10;        &lt;Text style={{ fontSize: 14, color: '#8B97A8' }}&gt;汇报人：吕治　·　2026 年 10 月　·　数据科学与大数据技术（2023.9–2027.6）&lt;/Text&gt;&#10;        &lt;Text style={{ fontSize: 14, color: '#1E4FA8', fontWeight: 'bold' }}&gt;07 / 18&lt;/Text&gt;&#10;    &lt;/Box&gt;&#10;&#10;    &lt;Box style={{ height: 20, width: '100%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5" name=""/>
          <p:cNvSpPr/>
          <p:nvPr/>
        </p:nvSpPr>
        <p:spPr>
          <a:xfrm rot="0" flipH="0" flipV="0">
            <a:off x="381000" y="0"/>
            <a:ext cx="11430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647700" y="28575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电商销量预测系统</a:t>
            </a:r>
            <a:r>
              <a:rPr lang="en-US" sz="1200" b="1" spc="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课程答辩演示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10163175" y="304800"/>
            <a:ext cx="1381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技术方案</a:t>
            </a: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技术选型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381000" y="762000"/>
            <a:ext cx="3143250" cy="5524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628650" y="1009650"/>
            <a:ext cx="2647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7BA3E0"/>
                </a:solidFill>
                <a:latin typeface="Microsoft YaHei"/>
                <a:ea typeface="Microsoft YaHei"/>
              </a:rPr>
              <a:t>技术栈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628650" y="1276350"/>
            <a:ext cx="2647950" cy="447675"/>
          </a:xfrm>
          <a:prstGeom prst="rect"/>
        </p:spPr>
        <p:txBody>
          <a:bodyPr wrap="none" lIns="0" tIns="0" rIns="0" bIns="0"/>
          <a:p>
            <a:pPr>
              <a:lnSpc>
                <a:spcPct val="128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技术栈与四层架构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628650" y="1857375"/>
            <a:ext cx="4191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628650" y="2028825"/>
            <a:ext cx="26479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7D8F2"/>
                </a:solidFill>
                <a:latin typeface="Microsoft YaHei"/>
                <a:ea typeface="Microsoft YaHei"/>
              </a:rPr>
              <a:t>全部版本写入交付文档，换机器部署时不因依赖漂移改变行为。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628650" y="3800475"/>
            <a:ext cx="264795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74" name=""/>
          <p:cNvPicPr>
            <a:picLocks noChangeAspect="1"/>
          </p:cNvPicPr>
          <p:nvPr/>
        </p:nvPicPr>
        <p:blipFill>
          <a:blip r:embed="rId1"/>
          <a:srcRect l="0" t="30727" r="0" b="30727"/>
          <a:stretch>
            <a:fillRect/>
          </a:stretch>
        </p:blipFill>
        <p:spPr>
          <a:xfrm rot="0" flipH="0" flipV="0">
            <a:off x="628650" y="3800475"/>
            <a:ext cx="2647950" cy="1676400"/>
          </a:xfrm>
          <a:custGeom>
            <a:pathLst>
              <a:path w="278" h="176">
                <a:moveTo>
                  <a:pt x="270" y="0"/>
                </a:moveTo>
                <a:cubicBezTo>
                  <a:pt x="275" y="0"/>
                  <a:pt x="278" y="4"/>
                  <a:pt x="278" y="8"/>
                </a:cubicBezTo>
                <a:lnTo>
                  <a:pt x="278" y="168"/>
                </a:lnTo>
                <a:cubicBezTo>
                  <a:pt x="278" y="172"/>
                  <a:pt x="274" y="176"/>
                  <a:pt x="270" y="176"/>
                </a:cubicBezTo>
                <a:lnTo>
                  <a:pt x="8" y="176"/>
                </a:lnTo>
                <a:cubicBezTo>
                  <a:pt x="4" y="176"/>
                  <a:pt x="0" y="172"/>
                  <a:pt x="0" y="168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lnTo>
                  <a:pt x="270" y="0"/>
                </a:lnTo>
                <a:close/>
              </a:path>
            </a:pathLst>
          </a:custGeom>
          <a:ln/>
        </p:spPr>
      </p:pic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628650" y="5553075"/>
            <a:ext cx="26479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8FB0E4"/>
                </a:solidFill>
                <a:latin typeface="Microsoft YaHei"/>
                <a:ea typeface="Microsoft YaHei"/>
              </a:rPr>
              <a:t>首页：低频商品占比与覆盖率提示直接暴露给用户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3810000" y="1238250"/>
            <a:ext cx="8001000" cy="914400"/>
          </a:xfrm>
          <a:custGeom>
            <a:pathLst>
              <a:path w="840" h="96">
                <a:moveTo>
                  <a:pt x="0" y="95"/>
                </a:moveTo>
                <a:lnTo>
                  <a:pt x="840" y="95"/>
                </a:lnTo>
                <a:lnTo>
                  <a:pt x="840" y="96"/>
                </a:lnTo>
                <a:lnTo>
                  <a:pt x="0" y="9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3810000" y="1562100"/>
            <a:ext cx="2381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api / v1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　接入层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6191250" y="1562100"/>
            <a:ext cx="3714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条路由、鉴权与请求校验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9906000" y="1590675"/>
            <a:ext cx="19050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3D7BD9"/>
                </a:solidFill>
                <a:latin typeface="Microsoft YaHei"/>
                <a:ea typeface="Microsoft YaHei"/>
              </a:rPr>
              <a:t>FastAPI 0.141.1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3810000" y="2152650"/>
            <a:ext cx="8001000" cy="914400"/>
          </a:xfrm>
          <a:custGeom>
            <a:pathLst>
              <a:path w="840" h="96">
                <a:moveTo>
                  <a:pt x="0" y="95"/>
                </a:moveTo>
                <a:lnTo>
                  <a:pt x="840" y="95"/>
                </a:lnTo>
                <a:lnTo>
                  <a:pt x="840" y="96"/>
                </a:lnTo>
                <a:lnTo>
                  <a:pt x="0" y="9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3810000" y="2476500"/>
            <a:ext cx="2381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services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　服务层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191250" y="2476500"/>
            <a:ext cx="3714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上传、训练、预测、导出编排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9906000" y="2505075"/>
            <a:ext cx="19050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3D7BD9"/>
                </a:solidFill>
                <a:latin typeface="Microsoft YaHei"/>
                <a:ea typeface="Microsoft YaHei"/>
              </a:rPr>
              <a:t>Uvicorn 0.35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3810000" y="3067050"/>
            <a:ext cx="8001000" cy="914400"/>
          </a:xfrm>
          <a:custGeom>
            <a:pathLst>
              <a:path w="840" h="96">
                <a:moveTo>
                  <a:pt x="0" y="95"/>
                </a:moveTo>
                <a:lnTo>
                  <a:pt x="840" y="95"/>
                </a:lnTo>
                <a:lnTo>
                  <a:pt x="840" y="96"/>
                </a:lnTo>
                <a:lnTo>
                  <a:pt x="0" y="9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3810000" y="3390900"/>
            <a:ext cx="2381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dao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　数据访问层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6191250" y="3390900"/>
            <a:ext cx="3714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单库读写与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WAL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事务边界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9906000" y="3419475"/>
            <a:ext cx="19050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3D7BD9"/>
                </a:solidFill>
                <a:latin typeface="Microsoft YaHei"/>
                <a:ea typeface="Microsoft YaHei"/>
              </a:rPr>
              <a:t>SQLite 3 · WAL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3810000" y="3981450"/>
            <a:ext cx="8001000" cy="914400"/>
          </a:xfrm>
          <a:custGeom>
            <a:pathLst>
              <a:path w="840" h="96">
                <a:moveTo>
                  <a:pt x="0" y="95"/>
                </a:moveTo>
                <a:lnTo>
                  <a:pt x="840" y="95"/>
                </a:lnTo>
                <a:lnTo>
                  <a:pt x="840" y="96"/>
                </a:lnTo>
                <a:lnTo>
                  <a:pt x="0" y="9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3810000" y="4305300"/>
            <a:ext cx="2381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app / algo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　算法层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6191250" y="4305300"/>
            <a:ext cx="3714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特征、训练、推理与三级降级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9906000" y="4333875"/>
            <a:ext cx="19050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3D7BD9"/>
                </a:solidFill>
                <a:latin typeface="Microsoft YaHei"/>
                <a:ea typeface="Microsoft YaHei"/>
              </a:rPr>
              <a:t>PyTorch 2.9.1+cu128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3810000" y="5229225"/>
            <a:ext cx="2381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web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　前端层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6191250" y="5229225"/>
            <a:ext cx="3714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13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个页面、图表懒加载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9906000" y="5257800"/>
            <a:ext cx="19050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3D7BD9"/>
                </a:solidFill>
                <a:latin typeface="Microsoft YaHei"/>
                <a:ea typeface="Microsoft YaHei"/>
              </a:rPr>
              <a:t>React 18.3.1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477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汇报人：吕治　·　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　·　数据科学与大数据技术（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2023.9–2027.6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07 / 18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497" name="" descr="&lt;Slide style={{ width: 1280, height: 720, padding: '0 40px', background: '#FFFFFF', flexDirection: 'column' }}&gt;&#13;&#10;    &lt;Box style={{ height: 80, width: '100%', background: '#0E3F8C', flexDirection: 'row', alignItems: 'center', justifyContent: 'space-between', padding: '0 28px' }}&gt;&#13;&#10;        &lt;Text style={{ fontSize: 16, color: '#FFFFFF', fontWeight: 'bold', letterSpacing: 1 }}&gt;电商销量预测系统 · 课程答辩演示&lt;/Text&gt;&#13;&#10;        &lt;Text style={{ fontSize: 14, color: '#B9CCEF' }}&gt;02 技术方案 · 算法约束&lt;/Text&gt;&#13;&#10;    &lt;/Box&gt;&#13;&#10;&#13;&#10;    &lt;Box style={{ height: 580, width: '100%', flexDirection: 'column' }}&gt;&#13;&#10;        &lt;Box style={{ height: 68, width: '100%', flexDirection: 'row', alignItems: 'center', justifyContent: 'space-between' }}&gt;&#13;&#10;            &lt;Text style={{ fontSize: 32, color: '#0E3F8C', fontWeight: 'bold' }}&gt;算法设计的五条铁律&lt;/Text&gt;&#13;&#10;            &lt;Text style={{ fontSize: 15, color: '#8B97A8' }}&gt;每一条都由一次失败实验换来&lt;/Text&gt;&#13;&#10;        &lt;/Box&gt;&#13;&#10;&#13;&#10;        &lt;Box style={{ height: 512, width: '100%', flexDirection: 'row' }}&gt;&#13;&#10;            &lt;Box style={{ width: 646, height: 512, background: '#F7F9FC', border: '1px solid #D6DCE5', borderRadius: 10, padding: '16px 20px', flexDirection: 'column' }}&gt;&#13;&#10;                &lt;Text style={{ fontSize: 15, color: '#3D7BD9', letterSpacing: 2 }}&gt;算法主链路&lt;/Text&gt;&#13;&#10;&#13;&#10;                &lt;Box style={{ flexDirection: 'row', alignItems: 'center', height: 84, background: '#FFFFFF', borderLeft: '4px solid #1E4FA8', borderRadius: 6, padding: '0 18px', marginTop: 10 }}&gt;&#13;&#10;                    &lt;Box style={{ width: 32, height: 32, background: '#1E4FA8', borderRadius: 6, alignItems: 'center', justifyContent: 'center' }}&gt;&#13;&#10;                        &lt;Text style={{ fontSize: 15, color: '#FFFFFF', fontWeight: 'bold' }}&gt;01&lt;/Text&gt;&#13;&#10;                    &lt;/Box&gt;&#13;&#10;                    &lt;Box style={{ flex: 1, flexDirection: 'column', paddingLeft: 14 }}&gt;&#13;&#10;                        &lt;Text style={{ fontSize: 21, color: '#0E3F8C', fontWeight: 'bold' }}&gt;原始序列清洗&lt;/Text&gt;&#13;&#10;                        &lt;Text style={{ fontSize: 16, color: '#8B97A8', marginTop: 4 }}&gt;缺失线性插值 + 异常尖峰截断&lt;/Text&gt;&#13;&#10;                    &lt;/Box&gt;&#13;&#10;                    &lt;Text style={{ fontSize: 16, color: '#3D7BD9' }}&gt;864,772 行&lt;/Text&gt;&#13;&#10;                &lt;/Box&gt;&#13;&#10;&#13;&#10;                &lt;Box style={{ flexDirection: 'row', alignItems: 'center', height: 84, background: '#FFFFFF', borderLeft: '4px solid #1E4FA8', borderRadius: 6, padding: '0 18px', marginTop: 10 }}&gt;&#13;&#10;                    &lt;Box style={{ width: 32, height: 32, background: '#1E4FA8', borderRadius: 6, alignItems: 'center', justifyContent: 'center' }}&gt;&#13;&#10;                        &lt;Text style={{ fontSize: 15, color: '#FFFFFF', fontWeight: 'bold' }}&gt;02&lt;/Text&gt;&#13;&#10;                    &lt;/Box&gt;&#13;&#10;                    &lt;Box style={{ flex: 1, flexDirection: 'column', paddingLeft: 14 }}&gt;&#13;&#10;                        &lt;Text style={{ fontSize: 21, color: '#0E3F8C', fontWeight: 'bold' }}&gt;按序列切分 8 : 1 : 1&lt;/Text&gt;&#13;&#10;                        &lt;Text style={{ fontSize: 16, color: '#8B97A8', marginTop: 4 }}&gt;训练 / 验证 / 测试按时间轴切&lt;/Text&gt;&#13;&#10;                    &lt;/Box&gt;&#13;&#10;                    &lt;Text style={{ fontSize: 16, color: '#3D7BD9' }}&gt;不按样本切&lt;/Text&gt;&#13;&#10;                &lt;/Box&gt;&#13;&#10;&#13;&#10;                &lt;Box style={{ flexDirection: 'row', alignItems: 'center', height: 84, background: '#FFFFFF', borderLeft: '4px solid #1E4FA8', borderRadius: 6, padding: '0 18px', marginTop: 10 }}&gt;&#13;&#10;                    &lt;Box style={{ width: 32, height: 32, background: '#1E4FA8', borderRadius: 6, alignItems: 'center', justifyContent: 'center' }}&gt;&#13;&#10;                        &lt;Text style={{ fontSize: 15, color: '#FFFFFF', fontWeight: 'bold' }}&gt;03&lt;/Text&gt;&#13;&#10;                    &lt;/Box&gt;&#13;&#10;                    &lt;Box style={{ flex: 1, flexDirection: 'column', paddingLeft: 14 }}&gt;&#13;&#10;                        &lt;Text style={{ fontSize: 21, color: '#0E3F8C', fontWeight: 'bold' }}&gt;滑动窗口特征构建&lt;/Text&gt;&#13;&#10;                        &lt;Text style={{ fontSize: 16, color: '#8B97A8', marginTop: 4 }}&gt;星期、月份、节假日、滞后、滚动均值&lt;/Text&gt;&#13;&#10;                    &lt;/Box&gt;&#13;&#10;                    &lt;Text style={{ fontSize: 16, color: '#3D7BD9' }}&gt;11 维 / window 21&lt;/Text&gt;&#13;&#10;                &lt;/Box&gt;&#13;&#10;&#13;&#10;                &lt;Box style={{ flexDirection: 'row', alignItems: 'center', height: 84, background: '#FFFFFF', borderLeft: '4px solid #1E4FA8', borderRadius: 6, padding: '0 18px', marginTop: 10 }}&gt;&#13;&#10;                    &lt;Box style={{ width: 32, height: 32, background: '#1E4FA8', borderRadius: 6, alignItems: 'center', justifyContent: 'center' }}&gt;&#13;&#10;                        &lt;Text style={{ fontSize: 15, color: '#FFFFFF', fontWeight: 'bold' }}&gt;04&lt;/Text&gt;&#13;&#10;                    &lt;/Box&gt;&#13;&#10;                    &lt;Box style={{ flex: 1, flexDirection: 'column', paddingLeft: 14 }}&gt;&#13;&#10;                        &lt;Text style={{ fontSize: 21, color: '#0E3F8C', fontWeight: 'bold' }}&gt;多层 LSTM 训练&lt;/Text&gt;&#13;&#10;                        &lt;Text style={{ fontSize: 16, color: '#8B97A8', marginTop: 4 }}&gt;MSE + Adam + 学习率衰减 + 早停&lt;/Text&gt;&#13;&#10;                    &lt;/Box&gt;&#13;&#10;                    &lt;Text style={{ fontSize: 16, color: '#3D7BD9' }}&gt;31,729 参数&lt;/Text&gt;&#13;&#10;                &lt;/Box&gt;&#13;&#10;&#13;&#10;                &lt;Box style={{ flexDirection: 'row', alignItems: 'center', height: 84, background: '#FFFFFF', borderLeft: '4px solid #1E4FA8', borderRadius: 6, padding: '0 18px', marginTop: 10 }}&gt;&#13;&#10;                    &lt;Box style={{ width: 32, height: 32, background: '#1E4FA8', borderRadius: 6, alignItems: 'center', justifyContent: 'center' }}&gt;&#13;&#10;                        &lt;Text style={{ fontSize: 15, color: '#FFFFFF', fontWeight: 'bold' }}&gt;05&lt;/Text&gt;&#13;&#10;                    &lt;/Box&gt;&#13;&#10;                    &lt;Box style={{ flex: 1, flexDirection: 'column', paddingLeft: 14 }}&gt;&#13;&#10;                        &lt;Text style={{ fontSize: 21, color: '#0E3F8C', fontWeight: 'bold' }}&gt;样本外回测评估&lt;/Text&gt;&#13;&#10;                        &lt;Text style={{ fontSize: 16, color: '#8B97A8', marginTop: 4 }}&gt;先砍末尾 horizon 天再预测&lt;/Text&gt;&#13;&#10;                    &lt;/Box&gt;&#13;&#10;                    &lt;Text style={{ fontSize: 16, color: '#3D7BD9' }}&gt;对比移动平均基线&lt;/Text&gt;&#13;&#10;                &lt;/Box&gt;&#13;&#10;            &lt;/Box&gt;&#13;&#10;&#13;&#10;            &lt;Box style={{ width: 554, height: 512, paddingLeft: 24, flexDirection: 'column', justifyContent: 'center' }}&gt;&#13;&#10;                &lt;Box style={{ flexDirection: 'row', alignItems: 'flex-start', height: 100, borderBottom: '1px solid #E5E7EB', paddingTop: 8 }}&gt;&#13;&#10;                    &lt;Box style={{ width: 26, height: 26, background: '#1E4FA8', borderRadius: 6, alignItems: 'center', justifyContent: 'center' }}&gt;&#13;&#10;                        &lt;Text style={{ fontSize: 15, color: '#FFFFFF', fontWeight: 'bold' }}&gt;1&lt;/Text&gt;&#13;&#10;                    &lt;/Box&gt;&#13;&#10;                    &lt;Box style={{ flex: 1, flexDirection: 'column', paddingLeft: 12 }}&gt;&#13;&#10;                        &lt;Text style={{ fontSize: 21, color: '#0E3F8C', fontWeight: 'bold' }}&gt;学残差，不学绝对值&lt;/Text&gt;&#13;&#10;                        &lt;Text style={{ fontSize: 16, color: '#4A5568', lineHeight: 1.45, marginTop: 5 }}&gt;反例：学绝对值时预测 std / 真值 std 只剩 0.26&lt;/Text&gt;&#13;&#10;                    &lt;/Box&gt;&#13;&#10;                &lt;/Box&gt;&#13;&#10;&#13;&#10;                &lt;Box style={{ flexDirection: 'row', alignItems: 'flex-start', height: 100, borderBottom: '1px solid #E5E7EB', paddingTop: 8 }}&gt;&#13;&#10;                    &lt;Box style={{ width: 26, height: 26, background: '#1E4FA8', borderRadius: 6, alignItems: 'center', justifyContent: 'center' }}&gt;&#13;&#10;                        &lt;Text style={{ fontSize: 15, color: '#FFFFFF', fontWeight: 'bold' }}&gt;2&lt;/Text&gt;&#13;&#10;                    &lt;/Box&gt;&#13;&#10;                    &lt;Box style={{ flex: 1, flexDirection: 'column', paddingLeft: 12 }}&gt;&#13;&#10;                        &lt;Text style={{ fontSize: 21, color: '#0E3F8C', fontWeight: 'bold' }}&gt;按序列切分，不按样本切&lt;/Text&gt;&#13;&#10;                        &lt;Text style={{ fontSize: 16, color: '#4A5568', lineHeight: 1.45, marginTop: 5 }}&gt;反例：按样本切会让相邻两天泄漏答案&lt;/Text&gt;&#13;&#10;                    &lt;/Box&gt;&#13;&#10;                &lt;/Box&gt;&#13;&#10;&#13;&#10;                &lt;Box style={{ flexDirection: 'row', alignItems: 'flex-start', height: 100, borderBottom: '1px solid #E5E7EB', paddingTop: 8 }}&gt;&#13;&#10;                    &lt;Box style={{ width: 26, height: 26, background: '#1E4FA8', borderRadius: 6, alignItems: 'center', justifyContent: 'center' }}&gt;&#13;&#10;                        &lt;Text style={{ fontSize: 15, color: '#FFFFFF', fontWeight: 'bold' }}&gt;3&lt;/Text&gt;&#13;&#10;                    &lt;/Box&gt;&#13;&#10;                    &lt;Box style={{ flex: 1, flexDirection: 'column', paddingLeft: 12 }}&gt;&#13;&#10;                        &lt;Text style={{ fontSize: 21, color: '#0E3F8C', fontWeight: 'bold' }}&gt;过滤退化序列&lt;/Text&gt;&#13;&#10;                        &lt;Text style={{ fontSize: 16, color: '#4A5568', lineHeight: 1.45, marginTop: 5 }}&gt;反例：σ ≈ 0.03 的近常量序列污染全局 loss&lt;/Text&gt;&#13;&#10;                    &lt;/Box&gt;&#13;&#10;                &lt;/Box&gt;&#13;&#10;&#13;&#10;                &lt;Box style={{ flexDirection: 'row', alignItems: 'flex-start', height: 100, borderBottom: '1px solid #E5E7EB', paddingTop: 8 }}&gt;&#13;&#10;                    &lt;Box style={{ width: 26, height: 26, background: '#1E4FA8', borderRadius: 6, alignItems: 'center', justifyContent: 'center' }}&gt;&#13;&#10;                        &lt;Text style={{ fontSize: 15, color: '#FFFFFF', fontWeight: 'bold' }}&gt;4&lt;/Text&gt;&#13;&#10;                    &lt;/Box&gt;&#13;&#10;                    &lt;Box style={{ flex: 1, flexDirection: 'column', paddingLeft: 12 }}&gt;&#13;&#10;                        &lt;Text style={{ fontSize: 21, color: '#0E3F8C', fontWeight: 'bold' }}&gt;保护营销节点&lt;/Text&gt;&#13;&#10;                        &lt;Text style={{ fontSize: 16, color: '#4A5568', lineHeight: 1.45, marginTop: 5 }}&gt;反例：无条件截断会削掉双十一尖峰&lt;/Text&gt;&#13;&#10;                    &lt;/Box&gt;&#13;&#10;                &lt;/Box&gt;&#13;&#10;&#13;&#10;                &lt;Box style={{ flexDirection: 'row', alignItems: 'flex-start', height: 100, paddingTop: 8 }}&gt;&#13;&#10;                    &lt;Box style={{ width: 26, height: 26, background: '#1E4FA8', borderRadius: 6, alignItems: 'center', justifyContent: 'center' }}&gt;&#13;&#10;                        &lt;Text style={{ fontSize: 15, color: '#FFFFFF', fontWeight: 'bold' }}&gt;5&lt;/Text&gt;&#13;&#10;                    &lt;/Box&gt;&#13;&#10;                    &lt;Box style={{ flex: 1, flexDirection: 'column', paddingLeft: 12 }}&gt;&#13;&#10;                        &lt;Text style={{ fontSize: 21, color: '#0E3F8C', fontWeight: 'bold' }}&gt;主指标只算 L1&lt;/Text&gt;&#13;&#10;                        &lt;Text style={{ fontSize: 16, color: '#4A5568', lineHeight: 1.45, marginTop: 5 }}&gt;反例：混入 L2 会把 13.6% 抬到 25.9%&lt;/Text&gt;&#13;&#10;                    &lt;/Box&gt;&#13;&#10;                &lt;/Box&gt;&#13;&#10;            &lt;/Box&gt;&#13;&#10;        &lt;/Box&gt;&#13;&#10;    &lt;/Box&gt;&#13;&#10;&#13;&#10;    &lt;Box style={{ height: 40, width: '100%', flexDirection: 'row', alignItems: 'center', justifyContent: 'space-between' }}&gt;&#13;&#10;        &lt;Text style={{ fontSize: 14, color: '#8B97A8' }}&gt;汇报人：吕治　·　2026 年 10 月　·　数据科学与大数据技术（2023.9–2027.6）&lt;/Text&gt;&#13;&#10;        &lt;Text style={{ fontSize: 14, color: '#1E4FA8', fontWeight: 'bold' }}&gt;08 / 18&lt;/Text&gt;&#13;&#10;    &lt;/Box&gt;&#13;&#10;&#13;&#10;    &lt;Box style={{ height: 20, width: '100%' }} /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9" name=""/>
          <p:cNvSpPr/>
          <p:nvPr/>
        </p:nvSpPr>
        <p:spPr>
          <a:xfrm rot="0" flipH="0" flipV="0">
            <a:off x="381000" y="0"/>
            <a:ext cx="11430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647700" y="28575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电商销量预测系统</a:t>
            </a:r>
            <a:r>
              <a:rPr lang="en-US" sz="1200" b="1" spc="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课程答辩演示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10163175" y="304800"/>
            <a:ext cx="1381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技术方案</a:t>
            </a: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算法约束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381000" y="904875"/>
            <a:ext cx="2743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算法设计的五条铁律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9953625" y="1000125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每一条都由一次失败实验换来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381000" y="1409700"/>
            <a:ext cx="6153150" cy="4876800"/>
          </a:xfrm>
          <a:prstGeom prst="roundRect">
            <a:avLst>
              <a:gd name="adj" fmla="val 195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571500" y="1562100"/>
            <a:ext cx="5772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3D7BD9"/>
                </a:solidFill>
                <a:latin typeface="Microsoft YaHei"/>
                <a:ea typeface="Microsoft YaHei"/>
              </a:rPr>
              <a:t>算法主链路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609600" y="1828800"/>
            <a:ext cx="577215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7" name=""/>
          <p:cNvSpPr/>
          <p:nvPr/>
        </p:nvSpPr>
        <p:spPr>
          <a:xfrm rot="0" flipH="0" flipV="0">
            <a:off x="609600" y="1828800"/>
            <a:ext cx="5772150" cy="800100"/>
          </a:xfrm>
          <a:custGeom>
            <a:pathLst>
              <a:path w="606" h="84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82"/>
                </a:lnTo>
                <a:cubicBezTo>
                  <a:pt x="4" y="83"/>
                  <a:pt x="5" y="84"/>
                  <a:pt x="6" y="84"/>
                </a:cubicBezTo>
                <a:cubicBezTo>
                  <a:pt x="3" y="84"/>
                  <a:pt x="0" y="81"/>
                  <a:pt x="0" y="7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8" name=""/>
          <p:cNvSpPr/>
          <p:nvPr/>
        </p:nvSpPr>
        <p:spPr>
          <a:xfrm rot="0" flipH="0" flipV="0">
            <a:off x="781050" y="207645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847725" y="2143125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1219200" y="1990725"/>
            <a:ext cx="41814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原始序列清洗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1219200" y="2276475"/>
            <a:ext cx="4181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缺失线性插值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异常尖峰截断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5400675" y="2133600"/>
            <a:ext cx="771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D7BD9"/>
                </a:solidFill>
                <a:latin typeface="Microsoft YaHei"/>
                <a:ea typeface="Microsoft YaHei"/>
              </a:rPr>
              <a:t xml:space="preserve">864,772 </a:t>
            </a:r>
            <a:r>
              <a:rPr lang="zh-CN" sz="1200">
                <a:solidFill>
                  <a:srgbClr val="3D7BD9"/>
                </a:solidFill>
                <a:latin typeface="Microsoft YaHei"/>
                <a:ea typeface="Microsoft YaHei"/>
              </a:rPr>
              <a:t>行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609600" y="2724150"/>
            <a:ext cx="577215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4" name=""/>
          <p:cNvSpPr/>
          <p:nvPr/>
        </p:nvSpPr>
        <p:spPr>
          <a:xfrm rot="0" flipH="0" flipV="0">
            <a:off x="609600" y="2724150"/>
            <a:ext cx="5772150" cy="800100"/>
          </a:xfrm>
          <a:custGeom>
            <a:pathLst>
              <a:path w="606" h="84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82"/>
                </a:lnTo>
                <a:cubicBezTo>
                  <a:pt x="4" y="83"/>
                  <a:pt x="5" y="84"/>
                  <a:pt x="6" y="84"/>
                </a:cubicBezTo>
                <a:cubicBezTo>
                  <a:pt x="3" y="84"/>
                  <a:pt x="0" y="81"/>
                  <a:pt x="0" y="7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5" name=""/>
          <p:cNvSpPr/>
          <p:nvPr/>
        </p:nvSpPr>
        <p:spPr>
          <a:xfrm rot="0" flipH="0" flipV="0">
            <a:off x="781050" y="297180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847725" y="3038475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1219200" y="2886075"/>
            <a:ext cx="4191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按序列切分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8 : 1 : 1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1219200" y="3171825"/>
            <a:ext cx="4191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训练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验证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测试按时间轴切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5410200" y="302895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D7BD9"/>
                </a:solidFill>
                <a:latin typeface="Microsoft YaHei"/>
                <a:ea typeface="Microsoft YaHei"/>
              </a:rPr>
              <a:t>不按样本切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609600" y="3619500"/>
            <a:ext cx="577215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1" name=""/>
          <p:cNvSpPr/>
          <p:nvPr/>
        </p:nvSpPr>
        <p:spPr>
          <a:xfrm rot="0" flipH="0" flipV="0">
            <a:off x="609600" y="3619500"/>
            <a:ext cx="5772150" cy="800100"/>
          </a:xfrm>
          <a:custGeom>
            <a:pathLst>
              <a:path w="606" h="84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82"/>
                </a:lnTo>
                <a:cubicBezTo>
                  <a:pt x="4" y="83"/>
                  <a:pt x="5" y="84"/>
                  <a:pt x="6" y="84"/>
                </a:cubicBezTo>
                <a:cubicBezTo>
                  <a:pt x="3" y="84"/>
                  <a:pt x="0" y="81"/>
                  <a:pt x="0" y="7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781050" y="386715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847725" y="3933825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1219200" y="3781425"/>
            <a:ext cx="3619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滑动窗口特征构建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1219200" y="4067175"/>
            <a:ext cx="3619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星期、月份、节假日、滞后、滚动均值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4838700" y="3924300"/>
            <a:ext cx="1333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D7BD9"/>
                </a:solidFill>
                <a:latin typeface="Microsoft YaHei"/>
                <a:ea typeface="Microsoft YaHei"/>
              </a:rPr>
              <a:t xml:space="preserve">11 </a:t>
            </a:r>
            <a:r>
              <a:rPr lang="zh-CN" sz="1200">
                <a:solidFill>
                  <a:srgbClr val="3D7BD9"/>
                </a:solidFill>
                <a:latin typeface="Microsoft YaHei"/>
                <a:ea typeface="Microsoft YaHei"/>
              </a:rPr>
              <a:t>维</a:t>
            </a:r>
            <a:r>
              <a:rPr lang="en-US" sz="1200">
                <a:solidFill>
                  <a:srgbClr val="3D7BD9"/>
                </a:solidFill>
                <a:latin typeface="Microsoft YaHei"/>
                <a:ea typeface="Microsoft YaHei"/>
              </a:rPr>
              <a:t xml:space="preserve"> / window 21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609600" y="4514850"/>
            <a:ext cx="577215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8" name=""/>
          <p:cNvSpPr/>
          <p:nvPr/>
        </p:nvSpPr>
        <p:spPr>
          <a:xfrm rot="0" flipH="0" flipV="0">
            <a:off x="609600" y="4514850"/>
            <a:ext cx="5772150" cy="800100"/>
          </a:xfrm>
          <a:custGeom>
            <a:pathLst>
              <a:path w="606" h="84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82"/>
                </a:lnTo>
                <a:cubicBezTo>
                  <a:pt x="4" y="83"/>
                  <a:pt x="5" y="84"/>
                  <a:pt x="6" y="84"/>
                </a:cubicBezTo>
                <a:cubicBezTo>
                  <a:pt x="3" y="84"/>
                  <a:pt x="0" y="81"/>
                  <a:pt x="0" y="7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29" name=""/>
          <p:cNvSpPr/>
          <p:nvPr/>
        </p:nvSpPr>
        <p:spPr>
          <a:xfrm rot="0" flipH="0" flipV="0">
            <a:off x="781050" y="476250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847725" y="4829175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1219200" y="4676775"/>
            <a:ext cx="4114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多层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LSTM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训练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1219200" y="4962525"/>
            <a:ext cx="411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MSE + Adam +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学习率衰减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早停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5334000" y="4819650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D7BD9"/>
                </a:solidFill>
                <a:latin typeface="Microsoft YaHei"/>
                <a:ea typeface="Microsoft YaHei"/>
              </a:rPr>
              <a:t xml:space="preserve">31,729 </a:t>
            </a:r>
            <a:r>
              <a:rPr lang="zh-CN" sz="1200">
                <a:solidFill>
                  <a:srgbClr val="3D7BD9"/>
                </a:solidFill>
                <a:latin typeface="Microsoft YaHei"/>
                <a:ea typeface="Microsoft YaHei"/>
              </a:rPr>
              <a:t>参数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609600" y="5410200"/>
            <a:ext cx="577215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5" name=""/>
          <p:cNvSpPr/>
          <p:nvPr/>
        </p:nvSpPr>
        <p:spPr>
          <a:xfrm rot="0" flipH="0" flipV="0">
            <a:off x="609600" y="5410200"/>
            <a:ext cx="5772150" cy="800100"/>
          </a:xfrm>
          <a:custGeom>
            <a:pathLst>
              <a:path w="606" h="84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82"/>
                </a:lnTo>
                <a:cubicBezTo>
                  <a:pt x="4" y="83"/>
                  <a:pt x="5" y="84"/>
                  <a:pt x="6" y="84"/>
                </a:cubicBezTo>
                <a:cubicBezTo>
                  <a:pt x="3" y="84"/>
                  <a:pt x="0" y="81"/>
                  <a:pt x="0" y="7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36" name=""/>
          <p:cNvSpPr/>
          <p:nvPr/>
        </p:nvSpPr>
        <p:spPr>
          <a:xfrm rot="0" flipH="0" flipV="0">
            <a:off x="781050" y="565785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847725" y="5724525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1219200" y="5572125"/>
            <a:ext cx="3733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样本外回测评估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1219200" y="5857875"/>
            <a:ext cx="3733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先砍末尾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horizon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天再预测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4953000" y="57150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D7BD9"/>
                </a:solidFill>
                <a:latin typeface="Microsoft YaHei"/>
                <a:ea typeface="Microsoft YaHei"/>
              </a:rPr>
              <a:t>对比移动平均基线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6762750" y="1466850"/>
            <a:ext cx="5048250" cy="952500"/>
          </a:xfrm>
          <a:custGeom>
            <a:pathLst>
              <a:path w="530" h="100">
                <a:moveTo>
                  <a:pt x="0" y="99"/>
                </a:moveTo>
                <a:lnTo>
                  <a:pt x="530" y="99"/>
                </a:lnTo>
                <a:lnTo>
                  <a:pt x="530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42" name=""/>
          <p:cNvSpPr/>
          <p:nvPr/>
        </p:nvSpPr>
        <p:spPr>
          <a:xfrm rot="0" flipH="0" flipV="0">
            <a:off x="6762750" y="15430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6838950" y="158115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7124700" y="1543050"/>
            <a:ext cx="4686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学残差，不学绝对值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7124700" y="1838325"/>
            <a:ext cx="46863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反例：学绝对值时预测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std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真值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std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只剩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0.26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6762750" y="2419350"/>
            <a:ext cx="5048250" cy="952500"/>
          </a:xfrm>
          <a:custGeom>
            <a:pathLst>
              <a:path w="530" h="100">
                <a:moveTo>
                  <a:pt x="0" y="99"/>
                </a:moveTo>
                <a:lnTo>
                  <a:pt x="530" y="99"/>
                </a:lnTo>
                <a:lnTo>
                  <a:pt x="530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47" name=""/>
          <p:cNvSpPr/>
          <p:nvPr/>
        </p:nvSpPr>
        <p:spPr>
          <a:xfrm rot="0" flipH="0" flipV="0">
            <a:off x="6762750" y="24955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6838950" y="253365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7124700" y="2495550"/>
            <a:ext cx="4686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按序列切分，不按样本切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7124700" y="2790825"/>
            <a:ext cx="46863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反例：按样本切会让相邻两天泄漏答案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6762750" y="3371850"/>
            <a:ext cx="5048250" cy="952500"/>
          </a:xfrm>
          <a:custGeom>
            <a:pathLst>
              <a:path w="530" h="100">
                <a:moveTo>
                  <a:pt x="0" y="99"/>
                </a:moveTo>
                <a:lnTo>
                  <a:pt x="530" y="99"/>
                </a:lnTo>
                <a:lnTo>
                  <a:pt x="530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52" name=""/>
          <p:cNvSpPr/>
          <p:nvPr/>
        </p:nvSpPr>
        <p:spPr>
          <a:xfrm rot="0" flipH="0" flipV="0">
            <a:off x="6762750" y="34480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6838950" y="348615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7124700" y="3448050"/>
            <a:ext cx="4686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过滤退化序列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7124700" y="3743325"/>
            <a:ext cx="46863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反例：σ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≈ 0.03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的近常量序列污染全局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loss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6762750" y="4324350"/>
            <a:ext cx="5048250" cy="952500"/>
          </a:xfrm>
          <a:custGeom>
            <a:pathLst>
              <a:path w="530" h="100">
                <a:moveTo>
                  <a:pt x="0" y="99"/>
                </a:moveTo>
                <a:lnTo>
                  <a:pt x="530" y="99"/>
                </a:lnTo>
                <a:lnTo>
                  <a:pt x="530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57" name=""/>
          <p:cNvSpPr/>
          <p:nvPr/>
        </p:nvSpPr>
        <p:spPr>
          <a:xfrm rot="0" flipH="0" flipV="0">
            <a:off x="6762750" y="44005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6838950" y="443865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7124700" y="4400550"/>
            <a:ext cx="4686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保护营销节点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7124700" y="4695825"/>
            <a:ext cx="46863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反例：无条件截断会削掉双十一尖峰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6762750" y="53530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6838950" y="539115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7124700" y="5353050"/>
            <a:ext cx="4686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主指标只算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L1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7124700" y="5648325"/>
            <a:ext cx="46863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反例：混入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L2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会把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13.6%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抬到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25.9%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477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汇报人：吕治　·　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　·　数据科学与大数据技术（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2023.9–2027.6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08 / 18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567" name="" descr="&lt;Slide style={{ width: 1280, height: 720, padding: '0 40px', background: '#FFFFFF', flexDirection: 'column' }}&gt;&#10;    &lt;Box style={{ height: 80, width: '100%', background: '#0E3F8C', flexDirection: 'row', alignItems: 'center', justifyContent: 'space-between', padding: '0 28px' }}&gt;&#10;        &lt;Text style={{ fontSize: 16, color: '#FFFFFF', fontWeight: 'bold', letterSpacing: 1 }}&gt;电商销量预测系统 · 课程答辩演示&lt;/Text&gt;&#10;        &lt;Text style={{ fontSize: 14, color: '#B9CCEF' }}&gt;02 技术方案 · 降级策略&lt;/Text&gt;&#10;    &lt;/Box&gt;&#10;&#10;    &lt;Box style={{ height: 580, width: '100%', flexDirection: 'column' }}&gt;&#10;        &lt;Box style={{ height: 68, width: '100%', flexDirection: 'row', alignItems: 'center', justifyContent: 'space-between' }}&gt;&#10;            &lt;Text style={{ fontSize: 32, color: '#0E3F8C', fontWeight: 'bold' }}&gt;稀疏数据下的三级降级兜底&lt;/Text&gt;&#10;            &lt;Text style={{ fontSize: 15, color: '#8B97A8' }}&gt;判定阈值：单序列历史有效点数 ≥ 90 天&lt;/Text&gt;&#10;        &lt;/Box&gt;&#10;&#10;        &lt;Box style={{ height: 512, width: '100%', flexDirection: 'row' }}&gt;&#10;            &lt;Box style={{ width: 700, height: 512, flexDirection: 'column' }}&gt;&#10;                &lt;Box style={{ height: 48, background: '#E8EFF8', borderRadius: 8, padding: '0 20px', flexDirection: 'row', alignItems: 'center' }}&gt;&#10;                    &lt;Text style={{ fontSize: 20, color: '#0E3F8C', fontWeight: 'bold' }}&gt;输入：一条「仓库 × 商品」序列&lt;/Text&gt;&#10;                &lt;/Box&gt;&#10;&#10;                &lt;Box style={{ height: 132, background: '#FFFFFF', border: '1px solid #D6DCE5', borderLeft: '5px solid #1E4FA8', borderRadius: 8, padding: '0 20px', flexDirection: 'row', alignItems: 'center', marginTop: 14 }}&gt;&#10;                    &lt;Box style={{ width: 78, flexDirection: 'column' }}&gt;&#10;                        &lt;Text style={{ fontSize: 30, color: '#1E4FA8', fontWeight: 'bold' }}&gt;L1&lt;/Text&gt;&#10;                        &lt;Text style={{ fontSize: 14, color: '#8B97A8', marginTop: 2 }}&gt;本仓充足&lt;/Text&gt;&#10;                    &lt;/Box&gt;&#10;                    &lt;Box style={{ flex: 1, flexDirection: 'column', paddingLeft: 18 }}&gt;&#10;                        &lt;Text style={{ fontSize: 20, color: '#1A2230' }}&gt;本仓历史有效点数 ≥ 90 天&lt;/Text&gt;&#10;                        &lt;Text style={{ fontSize: 17, color: '#4A5568', lineHeight: 1.45, marginTop: 8 }}&gt;直接用 LSTM 推理未来 horizon 天，输出完整数值预测&lt;/Text&gt;&#10;                    &lt;/Box&gt;&#10;                    &lt;Text style={{ fontSize: 17, color: '#1E4FA8', fontWeight: 'bold' }}&gt;数值预测&lt;/Text&gt;&#10;                &lt;/Box&gt;&#10;&#10;                &lt;Box style={{ height: 132, background: '#FFFFFF', border: '1px solid #D6DCE5', borderLeft: '5px solid #3D7BD9', borderRadius: 8, padding: '0 20px', flexDirection: 'row', alignItems: 'center', marginTop: 14 }}&gt;&#10;                    &lt;Box style={{ width: 78, flexDirection: 'column' }}&gt;&#10;                        &lt;Text style={{ fontSize: 30, color: '#3D7BD9', fontWeight: 'bold' }}&gt;L2&lt;/Text&gt;&#10;                        &lt;Text style={{ fontSize: 14, color: '#8B97A8', marginTop: 2 }}&gt;跨仓补足&lt;/Text&gt;&#10;                    &lt;/Box&gt;&#10;                    &lt;Box style={{ flex: 1, flexDirection: 'column', paddingLeft: 18 }}&gt;&#10;                        &lt;Text style={{ fontSize: 20, color: '#1A2230' }}&gt;本仓不足，但同商品跨仓聚合 ≥ 90 天&lt;/Text&gt;&#10;                        &lt;Text style={{ fontSize: 17, color: '#4A5568', lineHeight: 1.45, marginTop: 8 }}&gt;按商品级预测，再依各仓历史占比分摊到目标仓&lt;/Text&gt;&#10;                    &lt;/Box&gt;&#10;                    &lt;Text style={{ fontSize: 17, color: '#3D7BD9', fontWeight: 'bold' }}&gt;标注粒度&lt;/Text&gt;&#10;                &lt;/Box&gt;&#10;&#10;                &lt;Box style={{ height: 132, background: '#FFFFFF', border: '1px solid #D6DCE5', borderLeft: '5px solid #8B97A8', borderRadius: 8, padding: '0 20px', flexDirection: 'row', alignItems: 'center', marginTop: 14 }}&gt;&#10;                    &lt;Box style={{ width: 78, flexDirection: 'column' }}&gt;&#10;                        &lt;Text style={{ fontSize: 30, color: '#5A6678', fontWeight: 'bold' }}&gt;L3&lt;/Text&gt;&#10;                        &lt;Text style={{ fontSize: 14, color: '#8B97A8', marginTop: 2 }}&gt;数据不足&lt;/Text&gt;&#10;                    &lt;/Box&gt;&#10;                    &lt;Box style={{ flex: 1, flexDirection: 'column', paddingLeft: 18 }}&gt;&#10;                        &lt;Text style={{ fontSize: 20, color: '#1A2230' }}&gt;跨仓聚合后仍不足 90 天&lt;/Text&gt;&#10;                        &lt;Text style={{ fontSize: 17, color: '#4A5568', lineHeight: 1.45, marginTop: 8 }}&gt;不输出数值，前端明确提示该序列历史不足、建议补充数据&lt;/Text&gt;&#10;                    &lt;/Box&gt;&#10;                    &lt;Text style={{ fontSize: 17, color: '#5A6678', fontWeight: 'bold' }}&gt;不预测&lt;/Text&gt;&#10;                &lt;/Box&gt;&#10;            &lt;/Box&gt;&#10;&#10;            &lt;Box style={{ width: 500, paddingLeft: 24, flexDirection: 'column' }}&gt;&#10;                &lt;Box style={{ height: 270, background: '#F7F9FC', border: '1px solid #D6DCE5', borderRadius: 10, padding: '20px 22px', flexDirection: 'column' }}&gt;&#10;                    &lt;Text style={{ fontSize: 15, color: '#3D7BD9', letterSpacing: 2 }}&gt;实测覆盖率&lt;/Text&gt;&#10;                    &lt;Text style={{ fontSize: 24, color: '#0E3F8C', fontWeight: 'bold', marginTop: 8 }}&gt;113 条序列的分级分布&lt;/Text&gt;&#10;&#10;                    &lt;Box style={{ flexDirection: 'row', alignItems: 'center', marginTop: 20 }}&gt;&#10;                        &lt;Text style={{ width: 44, fontSize: 19, color: '#1E4FA8', fontWeight: 'bold' }}&gt;L1&lt;/Text&gt;&#10;                        &lt;Box style={{ flex: 1, height: 22, background: '#E8EFF8', borderRadius: 4, flexDirection: 'row' }}&gt;&#10;                            &lt;Box style={{ width: 232, height: 22, background: '#1E4FA8', borderRadius: 4 }} /&gt;&#10;                        &lt;/Box&gt;&#10;                        &lt;Text style={{ width: 62, fontSize: 19, color: '#1A2230', fontWeight: 'bold', textAlign: 'right' }}&gt;81&lt;/Text&gt;&#10;                    &lt;/Box&gt;&#10;&#10;                    &lt;Box style={{ flexDirection: 'row', alignItems: 'center', marginTop: 14 }}&gt;&#10;                        &lt;Text style={{ width: 44, fontSize: 19, color: '#3D7BD9', fontWeight: 'bold' }}&gt;L2&lt;/Text&gt;&#10;                        &lt;Box style={{ flex: 1, height: 22, background: '#E8EFF8', borderRadius: 4, flexDirection: 'row' }}&gt;&#10;                            &lt;Box style={{ width: 92, height: 22, background: '#3D7BD9', borderRadius: 4 }} /&gt;&#10;                        &lt;/Box&gt;&#10;                        &lt;Text style={{ width: 62, fontSize: 19, color: '#1A2230', fontWeight: 'bold', textAlign: 'right' }}&gt;32&lt;/Text&gt;&#10;                    &lt;/Box&gt;&#10;&#10;                    &lt;Box style={{ flexDirection: 'row', alignItems: 'center', marginTop: 14 }}&gt;&#10;                        &lt;Text style={{ width: 44, fontSize: 19, color: '#5A6678', fontWeight: 'bold' }}&gt;L3&lt;/Text&gt;&#10;                        &lt;Box style={{ flex: 1, height: 22, background: '#E8EFF8', borderRadius: 4, flexDirection: 'row' }}&gt;&#10;                            &lt;Box style={{ width: 6, height: 22, background: '#8B97A8', borderRadius: 4 }} /&gt;&#10;                        &lt;/Box&gt;&#10;                        &lt;Text style={{ width: 62, fontSize: 19, color: '#1A2230', fontWeight: 'bold', textAlign: 'right' }}&gt;0&lt;/Text&gt;&#10;                    &lt;/Box&gt;&#10;&#10;                    &lt;Text style={{ fontSize: 16, color: '#8B97A8', marginTop: 16 }}&gt;合计 113 条（演示数据集 9 条为 L1 8 / L2 1）&lt;/Text&gt;&#10;                &lt;/Box&gt;&#10;&#10;                &lt;Box style={{ height: 226, background: '#FFFFFF', border: '1px solid #D6DCE5', borderRadius: 10, padding: '18px 20px', flexDirection: 'column', marginTop: 16 }}&gt;&#10;                    &lt;Text style={{ fontSize: 20, color: '#0E3F8C', fontWeight: 'bold' }}&gt;降级不是补丁，而是常用通道&lt;/Text&gt;&#10;                    &lt;Text style={{ fontSize: 22, color: '#1A2230', lineHeight: 1.5, marginTop: 10 }}&gt;L2 占 28.3%，说明真实数据下「本仓不足」是常态。把这条路径显式建模、并让前端可辨识粒度等级，比强行给所有序列一个像预测的数字更负责。&lt;/Text&gt;&#10;                &lt;/Box&gt;&#10;            &lt;/Box&gt;&#10;        &lt;/Box&gt;&#10;    &lt;/Box&gt;&#10;&#10;    &lt;Box style={{ height: 40, width: '100%', flexDirection: 'row', alignItems: 'center', justifyContent: 'space-between' }}&gt;&#10;        &lt;Text style={{ fontSize: 14, color: '#8B97A8' }}&gt;汇报人：吕治　·　2026 年 10 月　·　数据科学与大数据技术（2023.9–2027.6）&lt;/Text&gt;&#10;        &lt;Text style={{ fontSize: 14, color: '#1E4FA8', fontWeight: 'bold' }}&gt;09 / 18&lt;/Text&gt;&#10;    &lt;/Box&gt;&#10;&#10;    &lt;Box style={{ height: 20, width: '100%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9" name=""/>
          <p:cNvSpPr/>
          <p:nvPr/>
        </p:nvSpPr>
        <p:spPr>
          <a:xfrm rot="0" flipH="0" flipV="0">
            <a:off x="381000" y="0"/>
            <a:ext cx="11430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647700" y="28575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电商销量预测系统</a:t>
            </a:r>
            <a:r>
              <a:rPr lang="en-US" sz="1200" b="1" spc="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课程答辩演示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10163175" y="304800"/>
            <a:ext cx="1381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技术方案</a:t>
            </a: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降级策略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381000" y="904875"/>
            <a:ext cx="36576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稀疏数据下的三级降级兜底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9258300" y="1000125"/>
            <a:ext cx="2552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判定阈值：单序列历史有效点数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≥ 90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381000" y="1409700"/>
            <a:ext cx="6667500" cy="457200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571500" y="1524000"/>
            <a:ext cx="274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输入：一条「仓库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商品」序列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428625" y="2000250"/>
            <a:ext cx="6667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7" name=""/>
          <p:cNvSpPr/>
          <p:nvPr/>
        </p:nvSpPr>
        <p:spPr>
          <a:xfrm rot="0" flipH="0" flipV="0">
            <a:off x="428625" y="2000250"/>
            <a:ext cx="6667500" cy="1257300"/>
          </a:xfrm>
          <a:custGeom>
            <a:pathLst>
              <a:path w="700" h="132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29"/>
                </a:lnTo>
                <a:cubicBezTo>
                  <a:pt x="5" y="131"/>
                  <a:pt x="6" y="132"/>
                  <a:pt x="8" y="132"/>
                </a:cubicBezTo>
                <a:cubicBezTo>
                  <a:pt x="3" y="132"/>
                  <a:pt x="0" y="128"/>
                  <a:pt x="0" y="12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619125" y="2371725"/>
            <a:ext cx="7429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619125" y="2733675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本仓充足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1533525" y="2333625"/>
            <a:ext cx="4676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本仓历史有效点数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≥ 90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1533525" y="2638425"/>
            <a:ext cx="4676775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直接用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LSTM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推理未来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horizon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天，输出完整数值预测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6210300" y="25336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数值预测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428625" y="3390900"/>
            <a:ext cx="6667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4" name=""/>
          <p:cNvSpPr/>
          <p:nvPr/>
        </p:nvSpPr>
        <p:spPr>
          <a:xfrm rot="0" flipH="0" flipV="0">
            <a:off x="428625" y="3390900"/>
            <a:ext cx="6667500" cy="1257300"/>
          </a:xfrm>
          <a:custGeom>
            <a:pathLst>
              <a:path w="700" h="132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29"/>
                </a:lnTo>
                <a:cubicBezTo>
                  <a:pt x="5" y="131"/>
                  <a:pt x="6" y="132"/>
                  <a:pt x="8" y="132"/>
                </a:cubicBezTo>
                <a:cubicBezTo>
                  <a:pt x="3" y="132"/>
                  <a:pt x="0" y="128"/>
                  <a:pt x="0" y="12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619125" y="3762375"/>
            <a:ext cx="7429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3D7BD9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619125" y="4124325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跨仓补足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1533525" y="3724275"/>
            <a:ext cx="4676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本仓不足，但同商品跨仓聚合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≥ 90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1533525" y="4029075"/>
            <a:ext cx="4676775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按商品级预测，再依各仓历史占比分摊到目标仓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6210300" y="39243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D7BD9"/>
                </a:solidFill>
                <a:latin typeface="Microsoft YaHei"/>
                <a:ea typeface="Microsoft YaHei"/>
              </a:rPr>
              <a:t>标注粒度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428625" y="4781550"/>
            <a:ext cx="6667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1" name=""/>
          <p:cNvSpPr/>
          <p:nvPr/>
        </p:nvSpPr>
        <p:spPr>
          <a:xfrm rot="0" flipH="0" flipV="0">
            <a:off x="428625" y="4781550"/>
            <a:ext cx="6667500" cy="1257300"/>
          </a:xfrm>
          <a:custGeom>
            <a:pathLst>
              <a:path w="700" h="132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29"/>
                </a:lnTo>
                <a:cubicBezTo>
                  <a:pt x="5" y="131"/>
                  <a:pt x="6" y="132"/>
                  <a:pt x="8" y="132"/>
                </a:cubicBezTo>
                <a:cubicBezTo>
                  <a:pt x="3" y="132"/>
                  <a:pt x="0" y="128"/>
                  <a:pt x="0" y="12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p/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619125" y="5153025"/>
            <a:ext cx="7429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5A6678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619125" y="5514975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数据不足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1533525" y="5114925"/>
            <a:ext cx="4838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跨仓聚合后仍不足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90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1533525" y="5419725"/>
            <a:ext cx="48387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不输出数值，前端明确提示该序列历史不足、建议补充数据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6372225" y="531495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5A6678"/>
                </a:solidFill>
                <a:latin typeface="Microsoft YaHei"/>
                <a:ea typeface="Microsoft YaHei"/>
              </a:rPr>
              <a:t>不预测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7277100" y="1409700"/>
            <a:ext cx="4533900" cy="2571750"/>
          </a:xfrm>
          <a:prstGeom prst="roundRect">
            <a:avLst>
              <a:gd name="adj" fmla="val 370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7486650" y="1600200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3D7BD9"/>
                </a:solidFill>
                <a:latin typeface="Microsoft YaHei"/>
                <a:ea typeface="Microsoft YaHei"/>
              </a:rPr>
              <a:t>实测覆盖率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7486650" y="1847850"/>
            <a:ext cx="4114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113 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条序列的分级分布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7486650" y="2314575"/>
            <a:ext cx="419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7905750" y="2324100"/>
            <a:ext cx="3105150" cy="209550"/>
          </a:xfrm>
          <a:prstGeom prst="roundRect">
            <a:avLst>
              <a:gd name="adj" fmla="val 18182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02" name=""/>
          <p:cNvSpPr/>
          <p:nvPr/>
        </p:nvSpPr>
        <p:spPr>
          <a:xfrm rot="0" flipH="0" flipV="0">
            <a:off x="7905750" y="2324100"/>
            <a:ext cx="220980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11010900" y="2314575"/>
            <a:ext cx="590550" cy="2190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81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7486650" y="2667000"/>
            <a:ext cx="419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3D7BD9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7905750" y="2676525"/>
            <a:ext cx="3105150" cy="209550"/>
          </a:xfrm>
          <a:prstGeom prst="roundRect">
            <a:avLst>
              <a:gd name="adj" fmla="val 18182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06" name=""/>
          <p:cNvSpPr/>
          <p:nvPr/>
        </p:nvSpPr>
        <p:spPr>
          <a:xfrm rot="0" flipH="0" flipV="0">
            <a:off x="7905750" y="2676525"/>
            <a:ext cx="876300" cy="209550"/>
          </a:xfrm>
          <a:prstGeom prst="roundRect">
            <a:avLst>
              <a:gd name="adj" fmla="val 18182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11010900" y="2667000"/>
            <a:ext cx="590550" cy="2190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32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7486650" y="3019425"/>
            <a:ext cx="419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5A6678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7905750" y="3028950"/>
            <a:ext cx="3105150" cy="209550"/>
          </a:xfrm>
          <a:prstGeom prst="roundRect">
            <a:avLst>
              <a:gd name="adj" fmla="val 18182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10" name=""/>
          <p:cNvSpPr/>
          <p:nvPr/>
        </p:nvSpPr>
        <p:spPr>
          <a:xfrm rot="0" flipH="0" flipV="0">
            <a:off x="7905750" y="3028950"/>
            <a:ext cx="57150" cy="209550"/>
          </a:xfrm>
          <a:prstGeom prst="roundRect">
            <a:avLst>
              <a:gd name="adj" fmla="val 66667"/>
            </a:avLst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11010900" y="3019425"/>
            <a:ext cx="590550" cy="2190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7486650" y="3390900"/>
            <a:ext cx="411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合计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113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条（演示数据集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条为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L1 8 / L2 1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7277100" y="4133850"/>
            <a:ext cx="4533900" cy="215265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7467600" y="4305300"/>
            <a:ext cx="4152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降级不是补丁，而是常用通道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7467600" y="4629150"/>
            <a:ext cx="4152900" cy="1514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L2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占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28.3%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，说明真实数据下「本仓不足」是常态。把这条路径显式建模、并让前端可辨识粒度等级，比强行给所有序列一个像预测的数字更负责。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477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汇报人：吕治　·　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　·　数据科学与大数据技术（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2023.9–2027.6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09 / 18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9" name="" descr="&lt;Slide style={{ width: 1280, height: 720, padding: '0 40px', background: '#FFFFFF', flexDirection: 'column' }}&gt;&#10;    &lt;Box style={{ height: 80, width: '100%', background: '#0E3F8C', flexDirection: 'row', alignItems: 'center', justifyContent: 'space-between', padding: '0 28px' }}&gt;&#10;        &lt;Text style={{ fontSize: 16, color: '#FFFFFF', fontWeight: 'bold', letterSpacing: 1 }}&gt;电商销量预测系统 · 课程答辩演示&lt;/Text&gt;&#10;        &lt;Text style={{ fontSize: 14, color: '#B9CCEF' }}&gt;03 实现过程&lt;/Text&gt;&#10;    &lt;/Box&gt;&#10;&#10;    &lt;Box style={{ height: 580, width: '100%', flexDirection: 'row' }}&gt;&#10;        &lt;Box style={{ width: 300, height: 580, background: '#0E3F8C', alignItems: 'center', justifyContent: 'center' }}&gt;&#10;            &lt;Text style={{ fontSize: 150, color: '#FFFFFF', fontWeight: 'bold', letterSpacing: 2 }}&gt;03&lt;/Text&gt;&#10;        &lt;/Box&gt;&#10;&#10;        &lt;Box style={{ width: 900, height: 580, padding: '0 34px 0 46px', flexDirection: 'column', justifyContent: 'center' }}&gt;&#10;            &lt;Text style={{ fontSize: 15, color: '#8B97A8', letterSpacing: 3 }}&gt;CHAPTER THREE&lt;/Text&gt;&#10;            &lt;Text style={{ fontSize: 44, color: '#0E3F8C', fontWeight: 'bold', marginTop: 12 }}&gt;实现过程&lt;/Text&gt;&#10;            &lt;Box style={{ width: 64, height: 4, background: '#3D7BD9', marginTop: 18 }} /&gt;&#10;&#10;            &lt;Box style={{ flexDirection: 'row', alignItems: 'flex-start', gap: 16, marginTop: 30 }}&gt;&#10;                &lt;Box style={{ width: 34, height: 34, background: '#1E4FA8', borderRadius: 6, alignItems: 'center', justifyContent: 'center' }}&gt;&#10;                    &lt;Text style={{ fontSize: 16, color: '#FFFFFF', fontWeight: 'bold' }}&gt;01&lt;/Text&gt;&#10;                &lt;/Box&gt;&#10;                &lt;Text style={{ flex: 1, fontSize: 22, color: '#1A2230', lineHeight: 1.6 }}&gt;11 阶段推进：EP-0 至 EP-10，每个阶段都有可逐条核对的完成定义&lt;/Text&gt;&#10;            &lt;/Box&gt;&#10;&#10;            &lt;Box style={{ flexDirection: 'row', alignItems: 'flex-start', gap: 16, marginTop: 20 }}&gt;&#10;                &lt;Box style={{ width: 34, height: 34, background: '#1E4FA8', borderRadius: 6, alignItems: 'center', justifyContent: 'center' }}&gt;&#10;                    &lt;Text style={{ fontSize: 16, color: '#FFFFFF', fontWeight: 'bold' }}&gt;02&lt;/Text&gt;&#10;                &lt;/Box&gt;&#10;                &lt;Text style={{ flex: 1, fontSize: 22, color: '#1A2230', lineHeight: 1.6 }}&gt;质量门禁前移：接口契约可自动校验、真实浏览器渲染验证在交付前完成&lt;/Text&gt;&#10;            &lt;/Box&gt;&#10;&#10;            &lt;Box style={{ flexDirection: 'row', alignItems: 'flex-start', gap: 16, marginTop: 20 }}&gt;&#10;                &lt;Box style={{ width: 34, height: 34, background: '#1E4FA8', borderRadius: 6, alignItems: 'center', justifyContent: 'center' }}&gt;&#10;                    &lt;Text style={{ fontSize: 16, color: '#FFFFFF', fontWeight: 'bold' }}&gt;03&lt;/Text&gt;&#10;                &lt;/Box&gt;&#10;                &lt;Text style={{ flex: 1, fontSize: 22, color: '#1A2230', lineHeight: 1.6 }}&gt;工程规模实测：后端 13,143 行、前端 15,170 行、脚本 22,602 行、文档 16,271 行&lt;/Text&gt;&#10;            &lt;/Box&gt;&#10;        &lt;/Box&gt;&#10;    &lt;/Box&gt;&#10;&#10;    &lt;Box style={{ height: 40, width: '100%', flexDirection: 'row', alignItems: 'center', justifyContent: 'space-between' }}&gt;&#10;        &lt;Text style={{ fontSize: 14, color: '#8B97A8' }}&gt;汇报人：吕治　·　2026 年 10 月　·　数据科学与大数据技术（2023.9–2027.6）&lt;/Text&gt;&#10;        &lt;Text style={{ fontSize: 14, color: '#1E4FA8', fontWeight: 'bold' }}&gt;10 / 18&lt;/Text&gt;&#10;    &lt;/Box&gt;&#10;&#10;    &lt;Box style={{ height: 20, width: '100%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"/>
          <p:cNvSpPr/>
          <p:nvPr/>
        </p:nvSpPr>
        <p:spPr>
          <a:xfrm rot="0" flipH="0" flipV="0">
            <a:off x="381000" y="0"/>
            <a:ext cx="11430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47700" y="28575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电商销量预测系统</a:t>
            </a:r>
            <a:r>
              <a:rPr lang="en-US" sz="1200" b="1" spc="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课程答辩演示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0810875" y="304800"/>
            <a:ext cx="733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03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实现过程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381000" y="762000"/>
            <a:ext cx="2857500" cy="5524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904875" y="2667000"/>
            <a:ext cx="180975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 spc="15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3676650" y="1876425"/>
            <a:ext cx="781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8B97A8"/>
                </a:solidFill>
                <a:latin typeface="Microsoft YaHei"/>
                <a:ea typeface="Microsoft YaHei"/>
              </a:rPr>
              <a:t>CHAPTER THREE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3676650" y="2162175"/>
            <a:ext cx="78105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Microsoft YaHei"/>
                <a:ea typeface="Microsoft YaHei"/>
              </a:rPr>
              <a:t>实现过程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3676650" y="2838450"/>
            <a:ext cx="6096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3676650" y="31623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3743325" y="3228975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152900" y="3162300"/>
            <a:ext cx="733425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11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阶段推进：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EP-0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至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EP-10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，每个阶段都有可逐条核对的完成定义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3676650" y="37623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3743325" y="382905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152900" y="3762375"/>
            <a:ext cx="733425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质量门禁前移：接口契约可自动校验、真实浏览器渲染验证在交付前完成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3676650" y="436245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3743325" y="4429125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152900" y="4362450"/>
            <a:ext cx="733425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工程规模实测：后端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13,143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行、前端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15,170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行、脚本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22,602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行、文档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16,271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行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477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汇报人：吕治　·　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　·　数据科学与大数据技术（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2023.9–2027.6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18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0" name="" descr="&lt;Slide style={{ width: 1280, height: 720, padding: '0 40px', background: '#FFFFFF', flexDirection: 'column' }}&gt;&#10;    &lt;Box style={{ height: 80, width: '100%', background: '#0E3F8C', flexDirection: 'row', alignItems: 'center', justifyContent: 'space-between', padding: '0 28px' }}&gt;&#10;        &lt;Text style={{ fontSize: 16, color: '#FFFFFF', fontWeight: 'bold', letterSpacing: 1 }}&gt;电商销量预测系统 · 课程答辩演示&lt;/Text&gt;&#10;        &lt;Text style={{ fontSize: 14, color: '#B9CCEF' }}&gt;03 实现过程 · 阶段与门禁&lt;/Text&gt;&#10;    &lt;/Box&gt;&#10;&#10;    &lt;Box style={{ height: 580, width: '100%', flexDirection: 'column' }}&gt;&#10;        &lt;Box style={{ height: 68, width: '100%', flexDirection: 'row', alignItems: 'center', justifyContent: 'space-between' }}&gt;&#10;            &lt;Text style={{ fontSize: 32, color: '#0E3F8C', fontWeight: 'bold' }}&gt;11 阶段推进：每个阶段都有验收门禁&lt;/Text&gt;&#10;            &lt;Text style={{ fontSize: 15, color: '#8B97A8' }}&gt;阶段表本身即答辩时可被逐条核对的清单&lt;/Text&gt;&#10;        &lt;/Box&gt;&#10;&#10;        &lt;Box style={{ height: 512, width: '100%', flexDirection: 'row' }}&gt;&#10;            &lt;Box style={{ width: 716, height: 512, flexDirection: 'column' }}&gt;&#10;                &lt;Box style={{ flexDirection: 'row', alignItems: 'center', height: 46, borderBottom: '1px solid #E5E7EB' }}&gt;&#10;                    &lt;Text style={{ width: 92, fontSize: 18, color: '#1E4FA8', fontWeight: 'bold' }}&gt;EP-0&lt;/Text&gt;&#10;                    &lt;Text style={{ flex: 1, fontSize: 19, color: '#1A2230' }}&gt;项目启动与范围冻结&lt;/Text&gt;&#10;                    &lt;Text style={{ width: 198, fontSize: 15, color: '#8B97A8', textAlign: 'right' }}&gt;需求清单 + 优先级&lt;/Text&gt;&#10;                &lt;/Box&gt;&#10;                &lt;Box style={{ flexDirection: 'row', alignItems: 'center', height: 46, borderBottom: '1px solid #E5E7EB' }}&gt;&#10;                    &lt;Text style={{ width: 92, fontSize: 18, color: '#1E4FA8', fontWeight: 'bold' }}&gt;EP-1&lt;/Text&gt;&#10;                    &lt;Text style={{ flex: 1, fontSize: 19, color: '#1A2230' }}&gt;文档先行的设计与口径推导&lt;/Text&gt;&#10;                    &lt;Text style={{ width: 198, fontSize: 15, color: '#8B97A8', textAlign: 'right' }}&gt;PRD / 方案不分叉&lt;/Text&gt;&#10;                &lt;/Box&gt;&#10;                &lt;Box style={{ flexDirection: 'row', alignItems: 'center', height: 46, borderBottom: '1px solid #E5E7EB' }}&gt;&#10;                    &lt;Text style={{ width: 92, fontSize: 18, color: '#1E4FA8', fontWeight: 'bold' }}&gt;EP-2&lt;/Text&gt;&#10;                    &lt;Text style={{ flex: 1, fontSize: 19, color: '#1A2230' }}&gt;数据接入与校验契约&lt;/Text&gt;&#10;                    &lt;Text style={{ width: 198, fontSize: 15, color: '#8B97A8', textAlign: 'right' }}&gt;仓库列缺失即拒&lt;/Text&gt;&#10;                &lt;/Box&gt;&#10;                &lt;Box style={{ flexDirection: 'row', alignItems: 'center', height: 46, borderBottom: '1px solid #E5E7EB' }}&gt;&#10;                    &lt;Text style={{ width: 92, fontSize: 18, color: '#1E4FA8', fontWeight: 'bold' }}&gt;EP-3&lt;/Text&gt;&#10;                    &lt;Text style={{ flex: 1, fontSize: 19, color: '#1A2230' }}&gt;特征工程与预处理管线&lt;/Text&gt;&#10;                    &lt;Text style={{ width: 198, fontSize: 15, color: '#8B97A8', textAlign: 'right' }}&gt;插值 + 尖峰保护&lt;/Text&gt;&#10;                &lt;/Box&gt;&#10;                &lt;Box style={{ flexDirection: 'row', alignItems: 'center', height: 46, borderBottom: '1px solid #E5E7EB' }}&gt;&#10;                    &lt;Text style={{ width: 92, fontSize: 18, color: '#1E4FA8', fontWeight: 'bold' }}&gt;EP-4&lt;/Text&gt;&#10;                    &lt;Text style={{ flex: 1, fontSize: 19, color: '#1A2230' }}&gt;接口契约与后端骨架&lt;/Text&gt;&#10;                    &lt;Text style={{ width: 198, fontSize: 15, color: '#8B97A8', textAlign: 'right' }}&gt;OpenAPI 可自动校验&lt;/Text&gt;&#10;                &lt;/Box&gt;&#10;                &lt;Box style={{ flexDirection: 'row', alignItems: 'center', height: 46, borderBottom: '1px solid #E5E7EB' }}&gt;&#10;                    &lt;Text style={{ width: 92, fontSize: 18, color: '#1E4FA8', fontWeight: 'bold' }}&gt;EP-5&lt;/Text&gt;&#10;                    &lt;Text style={{ flex: 1, fontSize: 19, color: '#1A2230' }}&gt;LSTM 模型训练与调参&lt;/Text&gt;&#10;                    &lt;Text style={{ width: 198, fontSize: 15, color: '#8B97A8', textAlign: 'right' }}&gt;基线对比达标&lt;/Text&gt;&#10;                &lt;/Box&gt;&#10;                &lt;Box style={{ flexDirection: 'row', alignItems: 'center', height: 46, borderBottom: '1px solid #E5E7EB' }}&gt;&#10;                    &lt;Text style={{ width: 92, fontSize: 18, color: '#1E4FA8', fontWeight: 'bold' }}&gt;EP-6&lt;/Text&gt;&#10;                    &lt;Text style={{ flex: 1, fontSize: 19, color: '#1A2230' }}&gt;前端页面与交互实现&lt;/Text&gt;&#10;                    &lt;Text style={{ width: 198, fontSize: 15, color: '#8B97A8', textAlign: 'right' }}&gt;13 页可走通&lt;/Text&gt;&#10;                &lt;/Box&gt;&#10;                &lt;Box style={{ flexDirection: 'row', alignItems: 'center', height: 46, borderBottom: '1px solid #E5E7EB' }}&gt;&#10;                    &lt;Text style={{ width: 92, fontSize: 18, color: '#1E4FA8', fontWeight: 'bold' }}&gt;EP-7&lt;/Text&gt;&#10;                    &lt;Text style={{ flex: 1, fontSize: 19, color: '#1A2230' }}&gt;结果可视化与导出&lt;/Text&gt;&#10;                    &lt;Text style={{ width: 198, fontSize: 15, color: '#8B97A8', textAlign: 'right' }}&gt;CSV 含实际值与误差&lt;/Text&gt;&#10;                &lt;/Box&gt;&#10;                &lt;Box style={{ flexDirection: 'row', alignItems: 'center', height: 46, borderBottom: '1px solid #E5E7EB' }}&gt;&#10;                    &lt;Text style={{ width: 92, fontSize: 18, color: '#1E4FA8', fontWeight: 'bold' }}&gt;EP-8&lt;/Text&gt;&#10;                    &lt;Text style={{ flex: 1, fontSize: 19, color: '#1A2230' }}&gt;用户体系与数据隔离&lt;/Text&gt;&#10;                    &lt;Text style={{ width: 198, fontSize: 15, color: '#8B97A8', textAlign: 'right' }}&gt;越权读返回 403&lt;/Text&gt;&#10;                &lt;/Box&gt;&#10;                &lt;Box style={{ flexDirection: 'row', alignItems: 'center', height: 46, borderBottom: '1px solid #E5E7EB' }}&gt;&#10;                    &lt;Text style={{ width: 92, fontSize: 18, color: '#1E4FA8', fontWeight: 'bold' }}&gt;EP-9&lt;/Text&gt;&#10;                    &lt;Text style={{ flex: 1, fontSize: 19, color: '#1A2230' }}&gt;性能、兼容与无障碍验收&lt;/Text&gt;&#10;                    &lt;Text style={{ width: 198, fontSize: 15, color: '#8B97A8', textAlign: 'right' }}&gt;真实浏览器渲染验证&lt;/Text&gt;&#10;                &lt;/Box&gt;&#10;                &lt;Box style={{ flexDirection: 'row', alignItems: 'center', height: 46 }}&gt;&#10;                    &lt;Text style={{ width: 92, fontSize: 18, color: '#1E4FA8', fontWeight: 'bold' }}&gt;EP-10&lt;/Text&gt;&#10;                    &lt;Text style={{ flex: 1, fontSize: 19, color: '#1A2230' }}&gt;文档交付与答辩准备&lt;/Text&gt;&#10;                    &lt;Text style={{ width: 198, fontSize: 15, color: '#8B97A8', textAlign: 'right' }}&gt;六份文档口径统一&lt;/Text&gt;&#10;                &lt;/Box&gt;&#10;            &lt;/Box&gt;&#10;&#10;            &lt;Box style={{ width: 484, height: 512, paddingLeft: 24, flexDirection: 'column' }}&gt;&#10;                &lt;Box style={{ height: 250, background: '#F7F9FC', border: '1px solid #D6DCE5', borderRadius: 10, padding: 14, flexDirection: 'column' }}&gt;&#10;                    &lt;Box style={{ width: '100%', height: 196, borderRadius: 6, overflow: 'hidden', background: '#FFFFFF' }}&gt;&#10;                        &lt;Image src='assets/history.png' style={{ width: '100%', height: '100%', objectFit: 'cover', objectPosition: 'top' }} /&gt;&#10;                    &lt;/Box&gt;&#10;                    &lt;Text style={{ fontSize: 14, color: '#8B97A8', marginTop: 8 }}&gt;历史记录页：任务状态与完成时间可回溯&lt;/Text&gt;&#10;                &lt;/Box&gt;&#10;&#10;                &lt;Box style={{ height: 246, background: '#FFFFFF', border: '1px solid #D6DCE5', borderRadius: 10, padding: '18px 20px', flexDirection: 'column', marginTop: 16 }}&gt;&#10;                    &lt;Text style={{ fontSize: 20, color: '#0E3F8C', fontWeight: 'bold' }}&gt;三道不可跳过的门禁&lt;/Text&gt;&#10;                    &lt;Box style={{ flexDirection: 'row', alignItems: 'center', height: 44, marginTop: 10 }}&gt;&#10;                        &lt;Box style={{ width: 24, height: 24, background: '#1E4FA8', borderRadius: 5 }} /&gt;&#10;                        &lt;Text style={{ flex: 1, fontSize: 18, color: '#4A5568', paddingLeft: 12 }}&gt;接口契约可被脚本自动校验&lt;/Text&gt;&#10;                    &lt;/Box&gt;&#10;                    &lt;Box style={{ flexDirection: 'row', alignItems: 'center', height: 44 }}&gt;&#10;                        &lt;Box style={{ width: 24, height: 24, background: '#1E4FA8', borderRadius: 5 }} /&gt;&#10;                        &lt;Text style={{ flex: 1, fontSize: 18, color: '#4A5568', paddingLeft: 12 }}&gt;真实浏览器渲染验证后才可交付&lt;/Text&gt;&#10;                    &lt;/Box&gt;&#10;                    &lt;Box style={{ flexDirection: 'row', alignItems: 'center', height: 44 }}&gt;&#10;                        &lt;Box style={{ width: 24, height: 24, background: '#1E4FA8', borderRadius: 5 }} /&gt;&#10;                        &lt;Text style={{ flex: 1, fontSize: 18, color: '#4A5568', paddingLeft: 12 }}&gt;指标必须样本外回测，不看训练集&lt;/Text&gt;&#10;                    &lt;/Box&gt;&#10;                &lt;/Box&gt;&#10;            &lt;/Box&gt;&#10;        &lt;/Box&gt;&#10;    &lt;/Box&gt;&#10;&#10;    &lt;Box style={{ height: 40, width: '100%', flexDirection: 'row', alignItems: 'center', justifyContent: 'space-between' }}&gt;&#10;        &lt;Text style={{ fontSize: 14, color: '#8B97A8' }}&gt;汇报人：吕治　·　2026 年 10 月　·　数据科学与大数据技术（2023.9–2027.6）&lt;/Text&gt;&#10;        &lt;Text style={{ fontSize: 14, color: '#1E4FA8', fontWeight: 'bold' }}&gt;11 / 18&lt;/Text&gt;&#10;    &lt;/Box&gt;&#10;&#10;    &lt;Box style={{ height: 20, width: '100%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381000" y="0"/>
            <a:ext cx="11430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47700" y="28575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电商销量预测系统</a:t>
            </a:r>
            <a:r>
              <a:rPr lang="en-US" sz="1200" b="1" spc="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课程答辩演示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0029825" y="304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03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实现过程</a:t>
            </a: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阶段与门禁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381000" y="904875"/>
            <a:ext cx="50387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11 </a:t>
            </a: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阶段推进：每个阶段都有验收门禁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9239250" y="1000125"/>
            <a:ext cx="2571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阶段表本身即答辩时可被逐条核对的清单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381000" y="1409700"/>
            <a:ext cx="6819900" cy="438150"/>
          </a:xfrm>
          <a:custGeom>
            <a:pathLst>
              <a:path w="716" h="46">
                <a:moveTo>
                  <a:pt x="0" y="45"/>
                </a:moveTo>
                <a:lnTo>
                  <a:pt x="716" y="45"/>
                </a:lnTo>
                <a:lnTo>
                  <a:pt x="716" y="46"/>
                </a:lnTo>
                <a:lnTo>
                  <a:pt x="0" y="4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381000" y="1524000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EP-0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257300" y="151447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项目启动与范围冻结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5314950" y="1543050"/>
            <a:ext cx="18859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需求清单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优先级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381000" y="1847850"/>
            <a:ext cx="6819900" cy="438150"/>
          </a:xfrm>
          <a:custGeom>
            <a:pathLst>
              <a:path w="716" h="46">
                <a:moveTo>
                  <a:pt x="0" y="45"/>
                </a:moveTo>
                <a:lnTo>
                  <a:pt x="716" y="45"/>
                </a:lnTo>
                <a:lnTo>
                  <a:pt x="716" y="46"/>
                </a:lnTo>
                <a:lnTo>
                  <a:pt x="0" y="4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381000" y="1962150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EP-1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257300" y="195262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文档先行的设计与口径推导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314950" y="1981200"/>
            <a:ext cx="18859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PRD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方案不分叉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381000" y="2286000"/>
            <a:ext cx="6819900" cy="438150"/>
          </a:xfrm>
          <a:custGeom>
            <a:pathLst>
              <a:path w="716" h="46">
                <a:moveTo>
                  <a:pt x="0" y="45"/>
                </a:moveTo>
                <a:lnTo>
                  <a:pt x="716" y="45"/>
                </a:lnTo>
                <a:lnTo>
                  <a:pt x="716" y="46"/>
                </a:lnTo>
                <a:lnTo>
                  <a:pt x="0" y="4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381000" y="2400300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EP-2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257300" y="239077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数据接入与校验契约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314950" y="2419350"/>
            <a:ext cx="18859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仓库列缺失即拒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381000" y="2724150"/>
            <a:ext cx="6819900" cy="438150"/>
          </a:xfrm>
          <a:custGeom>
            <a:pathLst>
              <a:path w="716" h="46">
                <a:moveTo>
                  <a:pt x="0" y="45"/>
                </a:moveTo>
                <a:lnTo>
                  <a:pt x="716" y="45"/>
                </a:lnTo>
                <a:lnTo>
                  <a:pt x="716" y="46"/>
                </a:lnTo>
                <a:lnTo>
                  <a:pt x="0" y="4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381000" y="2838450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EP-3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257300" y="282892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特征工程与预处理管线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5314950" y="2857500"/>
            <a:ext cx="18859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插值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尖峰保护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381000" y="3162300"/>
            <a:ext cx="6819900" cy="438150"/>
          </a:xfrm>
          <a:custGeom>
            <a:pathLst>
              <a:path w="716" h="46">
                <a:moveTo>
                  <a:pt x="0" y="45"/>
                </a:moveTo>
                <a:lnTo>
                  <a:pt x="716" y="45"/>
                </a:lnTo>
                <a:lnTo>
                  <a:pt x="716" y="46"/>
                </a:lnTo>
                <a:lnTo>
                  <a:pt x="0" y="4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381000" y="3276600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EP-4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257300" y="326707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接口契约与后端骨架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314950" y="3295650"/>
            <a:ext cx="18859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OpenAPI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可自动校验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381000" y="3600450"/>
            <a:ext cx="6819900" cy="438150"/>
          </a:xfrm>
          <a:custGeom>
            <a:pathLst>
              <a:path w="716" h="46">
                <a:moveTo>
                  <a:pt x="0" y="45"/>
                </a:moveTo>
                <a:lnTo>
                  <a:pt x="716" y="45"/>
                </a:lnTo>
                <a:lnTo>
                  <a:pt x="716" y="46"/>
                </a:lnTo>
                <a:lnTo>
                  <a:pt x="0" y="4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381000" y="3714750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EP-5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257300" y="370522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LSTM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模型训练与调参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314950" y="3733800"/>
            <a:ext cx="18859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基线对比达标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381000" y="4038600"/>
            <a:ext cx="6819900" cy="438150"/>
          </a:xfrm>
          <a:custGeom>
            <a:pathLst>
              <a:path w="716" h="46">
                <a:moveTo>
                  <a:pt x="0" y="45"/>
                </a:moveTo>
                <a:lnTo>
                  <a:pt x="716" y="45"/>
                </a:lnTo>
                <a:lnTo>
                  <a:pt x="716" y="46"/>
                </a:lnTo>
                <a:lnTo>
                  <a:pt x="0" y="4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81000" y="4152900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EP-6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257300" y="414337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前端页面与交互实现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314950" y="4171950"/>
            <a:ext cx="18859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13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页可走通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381000" y="4476750"/>
            <a:ext cx="6819900" cy="438150"/>
          </a:xfrm>
          <a:custGeom>
            <a:pathLst>
              <a:path w="716" h="46">
                <a:moveTo>
                  <a:pt x="0" y="45"/>
                </a:moveTo>
                <a:lnTo>
                  <a:pt x="716" y="45"/>
                </a:lnTo>
                <a:lnTo>
                  <a:pt x="716" y="46"/>
                </a:lnTo>
                <a:lnTo>
                  <a:pt x="0" y="4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381000" y="4591050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EP-7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257300" y="458152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结果可视化与导出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314950" y="4610100"/>
            <a:ext cx="18859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CSV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含实际值与误差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381000" y="4914900"/>
            <a:ext cx="6819900" cy="438150"/>
          </a:xfrm>
          <a:custGeom>
            <a:pathLst>
              <a:path w="716" h="46">
                <a:moveTo>
                  <a:pt x="0" y="45"/>
                </a:moveTo>
                <a:lnTo>
                  <a:pt x="716" y="45"/>
                </a:lnTo>
                <a:lnTo>
                  <a:pt x="716" y="46"/>
                </a:lnTo>
                <a:lnTo>
                  <a:pt x="0" y="4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381000" y="5029200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EP-8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257300" y="501967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用户体系与数据隔离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314950" y="5048250"/>
            <a:ext cx="18859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越权读返回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403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381000" y="5353050"/>
            <a:ext cx="6819900" cy="438150"/>
          </a:xfrm>
          <a:custGeom>
            <a:pathLst>
              <a:path w="716" h="46">
                <a:moveTo>
                  <a:pt x="0" y="45"/>
                </a:moveTo>
                <a:lnTo>
                  <a:pt x="716" y="45"/>
                </a:lnTo>
                <a:lnTo>
                  <a:pt x="716" y="46"/>
                </a:lnTo>
                <a:lnTo>
                  <a:pt x="0" y="4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381000" y="5467350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EP-9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257300" y="545782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性能、兼容与无障碍验收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314950" y="5486400"/>
            <a:ext cx="18859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真实浏览器渲染验证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381000" y="5905500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EP-10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257300" y="5905500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文档交付与答辩准备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314950" y="5924550"/>
            <a:ext cx="18859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六份文档口径统一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7429500" y="1409700"/>
            <a:ext cx="4381500" cy="238125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7562850" y="1543050"/>
            <a:ext cx="4114800" cy="186690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92" name=""/>
          <p:cNvPicPr>
            <a:picLocks noChangeAspect="1"/>
          </p:cNvPicPr>
          <p:nvPr/>
        </p:nvPicPr>
        <p:blipFill>
          <a:blip r:embed="rId1"/>
          <a:srcRect l="0" t="9670" r="0" b="9670"/>
          <a:stretch>
            <a:fillRect/>
          </a:stretch>
        </p:blipFill>
        <p:spPr>
          <a:xfrm rot="0" flipH="0" flipV="0">
            <a:off x="7562850" y="1543050"/>
            <a:ext cx="4114800" cy="1866900"/>
          </a:xfrm>
          <a:custGeom>
            <a:pathLst>
              <a:path w="432" h="196">
                <a:moveTo>
                  <a:pt x="426" y="0"/>
                </a:moveTo>
                <a:cubicBezTo>
                  <a:pt x="429" y="0"/>
                  <a:pt x="432" y="3"/>
                  <a:pt x="432" y="6"/>
                </a:cubicBezTo>
                <a:lnTo>
                  <a:pt x="432" y="190"/>
                </a:lnTo>
                <a:cubicBezTo>
                  <a:pt x="432" y="193"/>
                  <a:pt x="429" y="196"/>
                  <a:pt x="426" y="196"/>
                </a:cubicBezTo>
                <a:lnTo>
                  <a:pt x="6" y="196"/>
                </a:lnTo>
                <a:cubicBezTo>
                  <a:pt x="3" y="196"/>
                  <a:pt x="0" y="193"/>
                  <a:pt x="0" y="19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26" y="0"/>
                </a:lnTo>
                <a:close/>
              </a:path>
            </a:pathLst>
          </a:custGeom>
          <a:ln/>
        </p:spPr>
      </p:pic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562850" y="3486150"/>
            <a:ext cx="4114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历史记录页：任务状态与完成时间可回溯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7429500" y="3943350"/>
            <a:ext cx="4381500" cy="2343150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7620000" y="4114800"/>
            <a:ext cx="400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三道不可跳过的门禁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7620000" y="4533900"/>
            <a:ext cx="228600" cy="228600"/>
          </a:xfrm>
          <a:prstGeom prst="roundRect">
            <a:avLst>
              <a:gd name="adj" fmla="val 2083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848600" y="4543425"/>
            <a:ext cx="3771900" cy="209550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接口契约可被脚本自动校验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7620000" y="4953000"/>
            <a:ext cx="228600" cy="228600"/>
          </a:xfrm>
          <a:prstGeom prst="roundRect">
            <a:avLst>
              <a:gd name="adj" fmla="val 2083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848600" y="4962525"/>
            <a:ext cx="3771900" cy="209550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真实浏览器渲染验证后才可交付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7620000" y="5372100"/>
            <a:ext cx="228600" cy="228600"/>
          </a:xfrm>
          <a:prstGeom prst="roundRect">
            <a:avLst>
              <a:gd name="adj" fmla="val 2083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848600" y="5381625"/>
            <a:ext cx="3771900" cy="209550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指标必须样本外回测，不看训练集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477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汇报人：吕治　·　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　·　数据科学与大数据技术（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2023.9–2027.6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11 / 18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04" name="" descr="&lt;Slide style={{ width: 1280, height: 720, padding: '0 40px', background: '#FFFFFF', flexDirection: 'column' }}&gt;&#10;    &lt;Box style={{ height: 80, width: '100%', background: '#0E3F8C', flexDirection: 'row', alignItems: 'center', justifyContent: 'space-between', padding: '0 28px' }}&gt;&#10;        &lt;Text style={{ fontSize: 16, color: '#FFFFFF', fontWeight: 'bold', letterSpacing: 1 }}&gt;电商销量预测系统 · 课程答辩演示&lt;/Text&gt;&#10;        &lt;Text style={{ fontSize: 14, color: '#B9CCEF' }}&gt;04 目标达成度&lt;/Text&gt;&#10;    &lt;/Box&gt;&#10;&#10;    &lt;Box style={{ height: 580, width: '100%', flexDirection: 'row' }}&gt;&#10;        &lt;Box style={{ width: 300, height: 580, background: '#0E3F8C', alignItems: 'center', justifyContent: 'center' }}&gt;&#10;            &lt;Text style={{ fontSize: 150, color: '#FFFFFF', fontWeight: 'bold', letterSpacing: 2 }}&gt;04&lt;/Text&gt;&#10;        &lt;/Box&gt;&#10;&#10;        &lt;Box style={{ width: 900, height: 580, padding: '0 34px 0 46px', flexDirection: 'column', justifyContent: 'center' }}&gt;&#10;            &lt;Text style={{ fontSize: 15, color: '#8B97A8', letterSpacing: 3 }}&gt;CHAPTER FOUR&lt;/Text&gt;&#10;            &lt;Text style={{ fontSize: 44, color: '#0E3F8C', fontWeight: 'bold', marginTop: 12 }}&gt;目标达成度&lt;/Text&gt;&#10;            &lt;Box style={{ width: 64, height: 4, background: '#3D7BD9', marginTop: 18 }} /&gt;&#10;&#10;            &lt;Box style={{ flexDirection: 'row', alignItems: 'flex-start', gap: 16, marginTop: 30 }}&gt;&#10;                &lt;Box style={{ width: 34, height: 34, background: '#1E4FA8', borderRadius: 6, alignItems: 'center', justifyContent: 'center' }}&gt;&#10;                    &lt;Text style={{ fontSize: 16, color: '#FFFFFF', fontWeight: 'bold' }}&gt;01&lt;/Text&gt;&#10;                &lt;/Box&gt;&#10;                &lt;Text style={{ flex: 1, fontSize: 22, color: '#1A2230', lineHeight: 1.6 }}&gt;三项硬指标全部达标：MAPE 14.26%、MAE 降低 26.42%、RMSE 降低 27.52%&lt;/Text&gt;&#10;            &lt;/Box&gt;&#10;&#10;            &lt;Box style={{ flexDirection: 'row', alignItems: 'flex-start', gap: 16, marginTop: 20 }}&gt;&#10;                &lt;Box style={{ width: 34, height: 34, background: '#1E4FA8', borderRadius: 6, alignItems: 'center', justifyContent: 'center' }}&gt;&#10;                    &lt;Text style={{ fontSize: 16, color: '#FFFFFF', fontWeight: 'bold' }}&gt;02&lt;/Text&gt;&#10;                &lt;/Box&gt;&#10;                &lt;Text style={{ flex: 1, fontSize: 22, color: '#1A2230', lineHeight: 1.6 }}&gt;性能实测：端到端 11.85 秒完成 14 天预测，相对 60 秒 SLA 留有约 5 倍余量&lt;/Text&gt;&#10;            &lt;/Box&gt;&#10;&#10;            &lt;Box style={{ flexDirection: 'row', alignItems: 'flex-start', gap: 16, marginTop: 20 }}&gt;&#10;                &lt;Box style={{ width: 34, height: 34, background: '#1E4FA8', borderRadius: 6, alignItems: 'center', justifyContent: 'center' }}&gt;&#10;                    &lt;Text style={{ fontSize: 16, color: '#FFFFFF', fontWeight: 'bold' }}&gt;03&lt;/Text&gt;&#10;                &lt;/Box&gt;&#10;                &lt;Text style={{ flex: 1, fontSize: 22, color: '#1A2230', lineHeight: 1.6 }}&gt;质量保障：三款浏览器各 109 项通过，无障碍 53 项零失效&lt;/Text&gt;&#10;            &lt;/Box&gt;&#10;        &lt;/Box&gt;&#10;    &lt;/Box&gt;&#10;&#10;    &lt;Box style={{ height: 40, width: '100%', flexDirection: 'row', alignItems: 'center', justifyContent: 'space-between' }}&gt;&#10;        &lt;Text style={{ fontSize: 14, color: '#8B97A8' }}&gt;汇报人：吕治　·　2026 年 10 月　·　数据科学与大数据技术（2023.9–2027.6）&lt;/Text&gt;&#10;        &lt;Text style={{ fontSize: 14, color: '#1E4FA8', fontWeight: 'bold' }}&gt;12 / 18&lt;/Text&gt;&#10;    &lt;/Box&gt;&#10;&#10;    &lt;Box style={{ height: 20, width: '100%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381000" y="0"/>
            <a:ext cx="11430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47700" y="28575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电商销量预测系统</a:t>
            </a:r>
            <a:r>
              <a:rPr lang="en-US" sz="1200" b="1" spc="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课程答辩演示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0677525" y="304800"/>
            <a:ext cx="866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目标达成度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381000" y="762000"/>
            <a:ext cx="2857500" cy="5524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904875" y="2667000"/>
            <a:ext cx="180975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 spc="150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3676650" y="1876425"/>
            <a:ext cx="781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8B97A8"/>
                </a:solidFill>
                <a:latin typeface="Microsoft YaHei"/>
                <a:ea typeface="Microsoft YaHei"/>
              </a:rPr>
              <a:t>CHAPTER FOUR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3676650" y="2162175"/>
            <a:ext cx="78105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Microsoft YaHei"/>
                <a:ea typeface="Microsoft YaHei"/>
              </a:rPr>
              <a:t>目标达成度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3676650" y="2838450"/>
            <a:ext cx="6096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14" name=""/>
          <p:cNvSpPr/>
          <p:nvPr/>
        </p:nvSpPr>
        <p:spPr>
          <a:xfrm rot="0" flipH="0" flipV="0">
            <a:off x="3676650" y="31623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3743325" y="3228975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152900" y="3162300"/>
            <a:ext cx="733425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三项硬指标全部达标：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MAPE 14.26%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MAE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降低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26.42%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RMSE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降低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27.52%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3676650" y="416242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3743325" y="42291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4152900" y="4162425"/>
            <a:ext cx="733425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性能实测：端到端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11.85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秒完成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14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天预测，相对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秒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SLA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留有约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倍余量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3676650" y="47625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3743325" y="4829175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152900" y="4762500"/>
            <a:ext cx="733425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质量保障：三款浏览器各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109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项通过，无障碍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53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项零失效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477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汇报人：吕治　·　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　·　数据科学与大数据技术（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2023.9–2027.6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12 / 18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25" name="" descr="&lt;Slide style={{ width: 1280, height: 720, padding: '0 40px', background: '#FFFFFF', flexDirection: 'column' }}&gt;&#10;    &lt;Box style={{ height: 80, width: '100%', background: '#0E3F8C', flexDirection: 'row', alignItems: 'center', justifyContent: 'space-between', padding: '0 28px' }}&gt;&#10;        &lt;Text style={{ fontSize: 16, color: '#FFFFFF', fontWeight: 'bold', letterSpacing: 1 }}&gt;电商销量预测系统 · 课程答辩演示&lt;/Text&gt;&#10;        &lt;Text style={{ fontSize: 14, color: '#B9CCEF' }}&gt;04 目标达成度 · 硬指标&lt;/Text&gt;&#10;    &lt;/Box&gt;&#10;&#10;    &lt;Box style={{ height: 580, width: '100%', flexDirection: 'column' }}&gt;&#10;        &lt;Box style={{ height: 68, width: '100%', flexDirection: 'row', alignItems: 'center', justifyContent: 'space-between' }}&gt;&#10;            &lt;Text style={{ fontSize: 32, color: '#0E3F8C', fontWeight: 'bold' }}&gt;三项硬指标全部达标&lt;/Text&gt;&#10;            &lt;Text style={{ fontSize: 15, color: '#8B97A8' }}&gt;全部取自样本外回测，基线为移动平均&lt;/Text&gt;&#10;        &lt;/Box&gt;&#10;&#10;        &lt;Box style={{ height: 512, width: '100%', flexDirection: 'column' }}&gt;&#10;            &lt;Box style={{ height: 268, width: '100%', flexDirection: 'row', alignItems: 'center', borderBottom: '1px solid #E5E7EB' }}&gt;&#10;                &lt;Box style={{ flex: 1, flexDirection: 'column', alignItems: 'center' }}&gt;&#10;                    &lt;Text style={{ fontSize: 62, color: '#1E4FA8', fontWeight: 'bold', lineHeight: 1 }}&gt;14.26%&lt;/Text&gt;&#10;                    &lt;Text style={{ fontSize: 19, color: '#4A5568', marginTop: 12 }}&gt;销量加权 MAPE&lt;/Text&gt;&#10;                    &lt;Box style={{ background: '#E8EFF8', borderRadius: 999, padding: '4px 14px', marginTop: 10 }}&gt;&#10;                        &lt;Text style={{ fontSize: 14, color: '#1E4FA8' }}&gt;红线 ≤ 20%，余量 5.74pp&lt;/Text&gt;&#10;                    &lt;/Box&gt;&#10;                &lt;/Box&gt;&#10;                &lt;Box style={{ width: 1, height: 150, background: '#E5E7EB' }} /&gt;&#10;                &lt;Box style={{ flex: 1, flexDirection: 'column', alignItems: 'center' }}&gt;&#10;                    &lt;Text style={{ fontSize: 62, color: '#1E4FA8', fontWeight: 'bold', lineHeight: 1 }}&gt;26.42%&lt;/Text&gt;&#10;                    &lt;Text style={{ fontSize: 19, color: '#4A5568', marginTop: 12 }}&gt;MAE 相对基线降低&lt;/Text&gt;&#10;                    &lt;Box style={{ background: '#E8EFF8', borderRadius: 999, padding: '4px 14px', marginTop: 10 }}&gt;&#10;                        &lt;Text style={{ fontSize: 14, color: '#1E4FA8' }}&gt;红线 ≥ 15%，超出 11.4pp&lt;/Text&gt;&#10;                    &lt;/Box&gt;&#10;                &lt;/Box&gt;&#10;                &lt;Box style={{ width: 1, height: 150, background: '#E5E7EB' }} /&gt;&#10;                &lt;Box style={{ flex: 1, flexDirection: 'column', alignItems: 'center' }}&gt;&#10;                    &lt;Text style={{ fontSize: 62, color: '#1E4FA8', fontWeight: 'bold', lineHeight: 1 }}&gt;27.52%&lt;/Text&gt;&#10;                    &lt;Text style={{ fontSize: 19, color: '#4A5568', marginTop: 12 }}&gt;RMSE 相对基线降低&lt;/Text&gt;&#10;                    &lt;Box style={{ background: '#E8EFF8', borderRadius: 999, padding: '4px 14px', marginTop: 10 }}&gt;&#10;                        &lt;Text style={{ fontSize: 14, color: '#1E4FA8' }}&gt;红线 ≥ 15%，超出 12.5pp&lt;/Text&gt;&#10;                    &lt;/Box&gt;&#10;                &lt;/Box&gt;&#10;                &lt;Box style={{ width: 1, height: 150, background: '#E5E7EB' }} /&gt;&#10;                &lt;Box style={{ flex: 1, flexDirection: 'column', alignItems: 'center' }}&gt;&#10;                    &lt;Text style={{ fontSize: 62, color: '#1E4FA8', fontWeight: 'bold', lineHeight: 1 }}&gt;83.95%&lt;/Text&gt;&#10;                    &lt;Text style={{ fontSize: 19, color: '#4A5568', marginTop: 12 }}&gt;达标序列占比&lt;/Text&gt;&#10;                    &lt;Box style={{ background: '#E8EFF8', borderRadius: 999, padding: '4px 14px', marginTop: 10 }}&gt;&#10;                        &lt;Text style={{ fontSize: 14, color: '#1E4FA8' }}&gt;红线 ≥ 60%，超出 24pp&lt;/Text&gt;&#10;                    &lt;/Box&gt;&#10;                &lt;/Box&gt;&#10;            &lt;/Box&gt;&#10;&#10;            &lt;Box style={{ height: 244, width: '100%', flexDirection: 'row', paddingTop: 22 }}&gt;&#10;                &lt;Box style={{ width: 776, paddingRight: 26, flexDirection: 'column' }}&gt;&#10;                    &lt;Text style={{ fontSize: 15, color: '#3D7BD9', letterSpacing: 2 }}&gt;为什么这个数字可信&lt;/Text&gt;&#10;                    &lt;Text style={{ fontSize: 27, color: '#0E3F8C', fontWeight: 'bold', marginTop: 8 }}&gt;基线选的是移动平均，而不是随便一个弱方法&lt;/Text&gt;&#10;                    &lt;Text style={{ fontSize: 22, color: '#1A2230', lineHeight: 1.6, marginTop: 12 }}&gt;相对移动平均降低 26% 以上，说明模型确实学到了基线捕捉不到的时序结构，而不是靠基线本身的水平在撑指标。&lt;/Text&gt;&#10;                &lt;/Box&gt;&#10;&#10;                &lt;Box style={{ width: 424, flexDirection: 'column' }}&gt;&#10;                    &lt;Box style={{ width: '100%', height: 178, border: '1px solid #D6DCE5', borderRadius: 10, overflow: 'hidden', background: '#F7F9FC' }}&gt;&#10;                        &lt;Image src='assets/result.png' style={{ width: '100%', height: '100%', objectFit: 'cover', objectPosition: 'top' }} /&gt;&#10;                    &lt;/Box&gt;&#10;                    &lt;Text style={{ fontSize: 14, color: '#8B97A8', marginTop: 8 }}&gt;图 3　预测结果页：指标卡与序列对比图&lt;/Text&gt;&#10;                &lt;/Box&gt;&#10;            &lt;/Box&gt;&#10;        &lt;/Box&gt;&#10;    &lt;/Box&gt;&#10;&#10;    &lt;Box style={{ height: 40, width: '100%', flexDirection: 'row', alignItems: 'center', justifyContent: 'space-between' }}&gt;&#10;        &lt;Text style={{ fontSize: 14, color: '#8B97A8' }}&gt;汇报人：吕治　·　2026 年 10 月　·　数据科学与大数据技术（2023.9–2027.6）&lt;/Text&gt;&#10;        &lt;Text style={{ fontSize: 14, color: '#1E4FA8', fontWeight: 'bold' }}&gt;13 / 18&lt;/Text&gt;&#10;    &lt;/Box&gt;&#10;&#10;    &lt;Box style={{ height: 20, width: '100%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381000" y="0"/>
            <a:ext cx="11430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47700" y="28575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电商销量预测系统</a:t>
            </a:r>
            <a:r>
              <a:rPr lang="en-US" sz="1200" b="1" spc="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课程答辩演示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0163175" y="304800"/>
            <a:ext cx="1381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目标达成度</a:t>
            </a: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硬指标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381000" y="904875"/>
            <a:ext cx="2743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三项硬指标全部达标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9382125" y="1000125"/>
            <a:ext cx="2428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全部取自样本外回测，基线为移动平均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381000" y="1409700"/>
            <a:ext cx="11430000" cy="2552700"/>
          </a:xfrm>
          <a:custGeom>
            <a:pathLst>
              <a:path w="1200" h="268">
                <a:moveTo>
                  <a:pt x="0" y="267"/>
                </a:moveTo>
                <a:lnTo>
                  <a:pt x="1200" y="267"/>
                </a:lnTo>
                <a:lnTo>
                  <a:pt x="1200" y="268"/>
                </a:lnTo>
                <a:lnTo>
                  <a:pt x="0" y="268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14375" y="1990725"/>
            <a:ext cx="218122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1E4FA8"/>
                </a:solidFill>
                <a:latin typeface="Microsoft YaHei"/>
                <a:ea typeface="Microsoft YaHei"/>
              </a:rPr>
              <a:t>14.26%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162050" y="2819400"/>
            <a:ext cx="1295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销量加权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MAPE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876300" y="3133725"/>
            <a:ext cx="1866900" cy="238125"/>
          </a:xfrm>
          <a:prstGeom prst="roundRect">
            <a:avLst>
              <a:gd name="adj" fmla="val 3996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009650" y="31718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红线</a:t>
            </a: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 xml:space="preserve"> ≤ 20%</a:t>
            </a: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，余量</a:t>
            </a: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 xml:space="preserve"> 5.74pp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3228975" y="1971675"/>
            <a:ext cx="9525" cy="142875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3581400" y="1990725"/>
            <a:ext cx="218122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1E4FA8"/>
                </a:solidFill>
                <a:latin typeface="Microsoft YaHei"/>
                <a:ea typeface="Microsoft YaHei"/>
              </a:rPr>
              <a:t>26.42%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3895725" y="2819400"/>
            <a:ext cx="1552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MAE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相对基线降低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3733800" y="3133725"/>
            <a:ext cx="1866900" cy="238125"/>
          </a:xfrm>
          <a:prstGeom prst="roundRect">
            <a:avLst>
              <a:gd name="adj" fmla="val 3996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3867150" y="31718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红线</a:t>
            </a: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 xml:space="preserve"> ≥ 15%</a:t>
            </a: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，超出</a:t>
            </a: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 xml:space="preserve"> 11.4pp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6096000" y="1971675"/>
            <a:ext cx="9525" cy="142875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438900" y="1990725"/>
            <a:ext cx="218122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1E4FA8"/>
                </a:solidFill>
                <a:latin typeface="Microsoft YaHei"/>
                <a:ea typeface="Microsoft YaHei"/>
              </a:rPr>
              <a:t>27.52%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705600" y="2819400"/>
            <a:ext cx="1647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RMSE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相对基线降低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600825" y="3133725"/>
            <a:ext cx="1866900" cy="238125"/>
          </a:xfrm>
          <a:prstGeom prst="roundRect">
            <a:avLst>
              <a:gd name="adj" fmla="val 3996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734175" y="31718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红线</a:t>
            </a: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 xml:space="preserve"> ≥ 15%</a:t>
            </a: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，超出</a:t>
            </a: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 xml:space="preserve"> 12.5pp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8953500" y="1971675"/>
            <a:ext cx="9525" cy="142875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9296400" y="1990725"/>
            <a:ext cx="218122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1E4FA8"/>
                </a:solidFill>
                <a:latin typeface="Microsoft YaHei"/>
                <a:ea typeface="Microsoft YaHei"/>
              </a:rPr>
              <a:t>83.95%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848850" y="2819400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达标序列占比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9515475" y="3133725"/>
            <a:ext cx="1752600" cy="238125"/>
          </a:xfrm>
          <a:prstGeom prst="roundRect">
            <a:avLst>
              <a:gd name="adj" fmla="val 3996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9648825" y="3171825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红线</a:t>
            </a: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 xml:space="preserve"> ≥ 60%</a:t>
            </a: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，超出</a:t>
            </a: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 xml:space="preserve"> 24pp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381000" y="4171950"/>
            <a:ext cx="7143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3D7BD9"/>
                </a:solidFill>
                <a:latin typeface="Microsoft YaHei"/>
                <a:ea typeface="Microsoft YaHei"/>
              </a:rPr>
              <a:t>为什么这个数字可信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381000" y="4419600"/>
            <a:ext cx="71437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E3F8C"/>
                </a:solidFill>
                <a:latin typeface="Microsoft YaHei"/>
                <a:ea typeface="Microsoft YaHei"/>
              </a:rPr>
              <a:t>基线选的是移动平均，而不是随便一个弱方法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381000" y="4848225"/>
            <a:ext cx="714375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相对移动平均降低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26%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以上，说明模型确实学到了基线捕捉不到的时序结构，而不是靠基线本身的水平在撑指标。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7772400" y="4171950"/>
            <a:ext cx="4038600" cy="1695450"/>
          </a:xfrm>
          <a:prstGeom prst="roundRect">
            <a:avLst>
              <a:gd name="adj" fmla="val 561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56" name=""/>
          <p:cNvPicPr>
            <a:picLocks noChangeAspect="1"/>
          </p:cNvPicPr>
          <p:nvPr/>
        </p:nvPicPr>
        <p:blipFill>
          <a:blip r:embed="rId1"/>
          <a:srcRect l="0" t="40396" r="0" b="40396"/>
          <a:stretch>
            <a:fillRect/>
          </a:stretch>
        </p:blipFill>
        <p:spPr>
          <a:xfrm rot="0" flipH="0" flipV="0">
            <a:off x="7772400" y="4171950"/>
            <a:ext cx="4038600" cy="1695450"/>
          </a:xfrm>
          <a:custGeom>
            <a:pathLst>
              <a:path w="424" h="178">
                <a:moveTo>
                  <a:pt x="414" y="0"/>
                </a:moveTo>
                <a:cubicBezTo>
                  <a:pt x="420" y="0"/>
                  <a:pt x="424" y="5"/>
                  <a:pt x="424" y="10"/>
                </a:cubicBezTo>
                <a:lnTo>
                  <a:pt x="424" y="168"/>
                </a:lnTo>
                <a:cubicBezTo>
                  <a:pt x="424" y="174"/>
                  <a:pt x="420" y="178"/>
                  <a:pt x="414" y="178"/>
                </a:cubicBezTo>
                <a:lnTo>
                  <a:pt x="10" y="178"/>
                </a:lnTo>
                <a:cubicBezTo>
                  <a:pt x="4" y="178"/>
                  <a:pt x="0" y="174"/>
                  <a:pt x="0" y="168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414" y="0"/>
                </a:lnTo>
                <a:close/>
              </a:path>
            </a:pathLst>
          </a:custGeom>
          <a:ln/>
        </p:spPr>
      </p:pic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772400" y="5943600"/>
            <a:ext cx="4038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3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　预测结果页：指标卡与序列对比图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477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汇报人：吕治　·　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　·　数据科学与大数据技术（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2023.9–2027.6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13 / 18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60" name="" descr="&lt;Slide style={{ width: 1280, height: 720, padding: '0 40px', background: '#FFFFFF', flexDirection: 'column' }}&gt;&#10;    &lt;Box style={{ height: 80, width: '100%', background: '#0E3F8C', flexDirection: 'row', alignItems: 'center', justifyContent: 'space-between', padding: '0 28px' }}&gt;&#10;        &lt;Text style={{ fontSize: 16, color: '#FFFFFF', fontWeight: 'bold', letterSpacing: 1 }}&gt;电商销量预测系统 · 课程答辩演示&lt;/Text&gt;&#10;        &lt;Text style={{ fontSize: 14, color: '#B9CCEF' }}&gt;04 目标达成度 · 性能实测&lt;/Text&gt;&#10;    &lt;/Box&gt;&#10;&#10;    &lt;Box style={{ height: 580, width: '100%', flexDirection: 'column' }}&gt;&#10;        &lt;Box style={{ height: 68, width: '100%', flexDirection: 'row', alignItems: 'center', justifyContent: 'space-between' }}&gt;&#10;            &lt;Text style={{ fontSize: 32, color: '#0E3F8C', fontWeight: 'bold' }}&gt;性能实测：端到端 11.85 秒完成 14 天预测&lt;/Text&gt;&#10;            &lt;Text style={{ fontSize: 15, color: '#8B97A8' }}&gt;本机实测（8 逻辑核 / 23.8 GB / MX450 2 GB）&lt;/Text&gt;&#10;        &lt;/Box&gt;&#10;&#10;        &lt;Box style={{ height: 512, width: '100%', flexDirection: 'column' }}&gt;&#10;            &lt;Box style={{ height: 236, width: '100%', background: '#FFFFFF' }}&gt;&#10;                &lt;Chart&#10;                    style={{ height: 236 }}&#10;                    chartType='barChart'&#10;                    barDirection='bar'&#10;                    title='关键路径耗时对比（秒）'&#10;                    titleColor='#0E3F8C'&#10;                    showLegend={false}&#10;                    showDataLabels={true}&#10;                    axisColor='#8B97A8'&#10;                    dataLabelColor='#1A2230'&#10;                    colors={['#1E4FA8']}&#10;                    background='#FFFFFF'&#10;                    data={[&#10;                        ['阶段', '耗时'],&#10;                        ['端到端 14 天预测', 11.85],&#10;                        ['CPU 回退模式', 23.49],&#10;                        ['3 并发（单请求）', 37.6],&#10;                    ]}&#10;                /&gt;&#10;            &lt;/Box&gt;&#10;&#10;            &lt;Box style={{ height: 120, width: '100%', flexDirection: 'row', marginTop: 12 }}&gt;&#10;                &lt;Box style={{ flex: 1, background: '#F0F5FC', borderRadius: 8, padding: '16px 20px', flexDirection: 'column' }}&gt;&#10;                    &lt;Text style={{ fontSize: 30, color: '#1E4FA8', fontWeight: 'bold', lineHeight: 1.1 }}&gt;14–21 ms&lt;/Text&gt;&#10;                    &lt;Text style={{ fontSize: 16, color: '#4A5568', lineHeight: 1.45, marginTop: 8 }}&gt;在线推理：单次请求内部实际计算耗时&lt;/Text&gt;&#10;                &lt;/Box&gt;&#10;                &lt;Box style={{ flex: 1, background: '#F0F5FC', borderRadius: 8, padding: '16px 20px', flexDirection: 'column', marginLeft: 14 }}&gt;&#10;                    &lt;Text style={{ fontSize: 30, color: '#1E4FA8', fontWeight: 'bold', lineHeight: 1.1 }}&gt;504 / 140 ms&lt;/Text&gt;&#10;                    &lt;Text style={{ fontSize: 16, color: '#4A5568', lineHeight: 1.45, marginTop: 8 }}&gt;首屏 FCP：Edge 504 ms，Chrome 140 ms&lt;/Text&gt;&#10;                &lt;/Box&gt;&#10;                &lt;Box style={{ flex: 1, background: '#F7F9FC', border: '1px solid #D6DCE5', borderRadius: 8, padding: '16px 20px', flexDirection: 'column', marginLeft: 14 }}&gt;&#10;                    &lt;Text style={{ fontSize: 30, color: '#D9534F', fontWeight: 'bold', lineHeight: 1.1 }}&gt;250.3 s&lt;/Text&gt;&#10;                    &lt;Text style={{ fontSize: 16, color: '#4A5568', lineHeight: 1.45, marginTop: 8 }}&gt;极限施压触发 E_TIMEOUT 软失败（不拖垮服务）&lt;/Text&gt;&#10;                &lt;/Box&gt;&#10;            &lt;/Box&gt;&#10;&#10;            &lt;Box style={{ height: 132, width: '100%', background: '#E8EFF8', borderRadius: 8, padding: '16px 22px', flexDirection: 'row', alignItems: 'center', marginTop: 12 }}&gt;&#10;                &lt;Text style={{ fontSize: 22, color: '#1A2230', lineHeight: 1.55 }}&gt;单次请求相对 60 秒 SLA 留有约 5 倍余量，但 3 并发已把耗时推高到 37.6 秒。瓶颈在 CPU 侧的两遍推理流水线而非 I/O，因此容量规划应按「并发 3 以内」设上限，并发失控时宁可显式超时也不让请求静默排队。&lt;/Text&gt;&#10;            &lt;/Box&gt;&#10;        &lt;/Box&gt;&#10;    &lt;/Box&gt;&#10;&#10;    &lt;Box style={{ height: 40, width: '100%', flexDirection: 'row', alignItems: 'center', justifyContent: 'space-between' }}&gt;&#10;        &lt;Text style={{ fontSize: 14, color: '#8B97A8' }}&gt;汇报人：吕治　·　2026 年 10 月　·　数据科学与大数据技术（2023.9–2027.6）&lt;/Text&gt;&#10;        &lt;Text style={{ fontSize: 14, color: '#1E4FA8', fontWeight: 'bold' }}&gt;14 / 18&lt;/Text&gt;&#10;    &lt;/Box&gt;&#10;&#10;    &lt;Box style={{ height: 20, width: '100%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381000" y="0"/>
            <a:ext cx="11430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47700" y="28575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电商销量预测系统</a:t>
            </a:r>
            <a:r>
              <a:rPr lang="en-US" sz="1200" b="1" spc="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课程答辩演示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0029825" y="304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目标达成度</a:t>
            </a: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性能实测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381000" y="904875"/>
            <a:ext cx="58483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性能实测：端到端</a:t>
            </a: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11.85 </a:t>
            </a: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秒完成</a:t>
            </a: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14 </a:t>
            </a: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天预测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734425" y="1000125"/>
            <a:ext cx="3076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本机实测（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逻辑核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/ 23.8 GB / MX450 2 GB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381000" y="1409700"/>
            <a:ext cx="11430000" cy="2247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graphicFrame>
        <p:nvGraphicFramePr>
          <p:cNvPr id="168" name="168"/>
          <p:cNvGraphicFramePr/>
          <p:nvPr/>
        </p:nvGraphicFramePr>
        <p:xfrm rot="0" flipH="0" flipV="0">
          <a:off x="381000" y="1409700"/>
          <a:ext cx="11430000" cy="22479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169" name=""/>
          <p:cNvSpPr/>
          <p:nvPr/>
        </p:nvSpPr>
        <p:spPr>
          <a:xfrm rot="0" flipH="0" flipV="0">
            <a:off x="381000" y="3771900"/>
            <a:ext cx="3724275" cy="1143000"/>
          </a:xfrm>
          <a:prstGeom prst="roundRect">
            <a:avLst>
              <a:gd name="adj" fmla="val 666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71500" y="3924300"/>
            <a:ext cx="3343275" cy="381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250" b="1">
                <a:solidFill>
                  <a:srgbClr val="1E4FA8"/>
                </a:solidFill>
                <a:latin typeface="Microsoft YaHei"/>
                <a:ea typeface="Microsoft YaHei"/>
              </a:rPr>
              <a:t>14–21 ms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71500" y="4381500"/>
            <a:ext cx="33432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在线推理：单次请求内部实际计算耗时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4238625" y="3771900"/>
            <a:ext cx="3714750" cy="1143000"/>
          </a:xfrm>
          <a:prstGeom prst="roundRect">
            <a:avLst>
              <a:gd name="adj" fmla="val 666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4429125" y="3924300"/>
            <a:ext cx="3333750" cy="381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250" b="1">
                <a:solidFill>
                  <a:srgbClr val="1E4FA8"/>
                </a:solidFill>
                <a:latin typeface="Microsoft YaHei"/>
                <a:ea typeface="Microsoft YaHei"/>
              </a:rPr>
              <a:t>504 / 140 ms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4429125" y="4381500"/>
            <a:ext cx="33337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首屏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FCP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：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Edge 504 ms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Chrome 140 ms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8086725" y="3771900"/>
            <a:ext cx="3724275" cy="114300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277225" y="3924300"/>
            <a:ext cx="3343275" cy="381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250" b="1">
                <a:solidFill>
                  <a:srgbClr val="D9534F"/>
                </a:solidFill>
                <a:latin typeface="Microsoft YaHei"/>
                <a:ea typeface="Microsoft YaHei"/>
              </a:rPr>
              <a:t>250.3 s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277225" y="4381500"/>
            <a:ext cx="33432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极限施压触发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E_TIMEOUT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软失败（不拖垮服务）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381000" y="5029200"/>
            <a:ext cx="11430000" cy="1257300"/>
          </a:xfrm>
          <a:prstGeom prst="roundRect">
            <a:avLst>
              <a:gd name="adj" fmla="val 606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590550" y="5267325"/>
            <a:ext cx="110109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单次请求相对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秒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SLA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留有约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倍余量，但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并发已把耗时推高到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37.6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秒。瓶颈在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CPU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侧的两遍推理流水线而非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I/O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，因此容量规划应按「并发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以内」设上限，并发失控时宁可显式超时也不让请求静默排队。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477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汇报人：吕治　·　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　·　数据科学与大数据技术（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2023.9–2027.6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14 / 18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82" name="" descr="&lt;Slide style={{ width: 1280, height: 720, padding: '0 40px', background: '#FFFFFF', flexDirection: 'column' }}&gt;&#10;    &lt;Box style={{ height: 80, width: '100%', background: '#0E3F8C', flexDirection: 'row', alignItems: 'center', justifyContent: 'space-between', padding: '0 28px' }}&gt;&#10;        &lt;Text style={{ fontSize: 16, color: '#FFFFFF', fontWeight: 'bold', letterSpacing: 1 }}&gt;电商销量预测系统 · 课程答辩演示&lt;/Text&gt;&#10;        &lt;Text style={{ fontSize: 14, color: '#B9CCEF' }}&gt;04 目标达成度 · 质量保障&lt;/Text&gt;&#10;    &lt;/Box&gt;&#10;&#10;    &lt;Box style={{ height: 580, width: '100%', flexDirection: 'column' }}&gt;&#10;        &lt;Box style={{ height: 68, width: '100%', flexDirection: 'row', alignItems: 'center', justifyContent: 'space-between' }}&gt;&#10;            &lt;Text style={{ fontSize: 32, color: '#0E3F8C', fontWeight: 'bold' }}&gt;质量保障：把缺陷拦在交付前&lt;/Text&gt;&#10;            &lt;Text style={{ fontSize: 15, color: '#8B97A8' }}&gt;缺陷与通过率均来自测试报告统计&lt;/Text&gt;&#10;        &lt;/Box&gt;&#10;&#10;        &lt;Box style={{ height: 512, width: '100%', flexDirection: 'row' }}&gt;&#10;            &lt;Box style={{ width: 676, height: 512, flexDirection: 'column' }}&gt;&#10;                &lt;Box style={{ height: 250, background: '#F7F9FC', border: '1px solid #D6DCE5', borderRadius: 10, padding: '18px 22px', flexDirection: 'column' }}&gt;&#10;                    &lt;Text style={{ fontSize: 15, color: '#3D7BD9', letterSpacing: 2 }}&gt;缺陷分布&lt;/Text&gt;&#10;                    &lt;Text style={{ fontSize: 24, color: '#0E3F8C', fontWeight: 'bold', marginTop: 8 }}&gt;脚本自身的缺陷是产品的 5 倍&lt;/Text&gt;&#10;&#10;                    &lt;Box style={{ flexDirection: 'row', alignItems: 'center', marginTop: 18 }}&gt;&#10;                        &lt;Text style={{ width: 116, fontSize: 19, color: '#4A5568' }}&gt;产品缺陷&lt;/Text&gt;&#10;                        &lt;Box style={{ width: 92, height: 24, background: '#1E4FA8', borderRadius: 4 }} /&gt;&#10;                        &lt;Text style={{ fontSize: 22, color: '#1E4FA8', fontWeight: 'bold', paddingLeft: 12 }}&gt;5 个&lt;/Text&gt;&#10;                    &lt;/Box&gt;&#10;&#10;                    &lt;Box style={{ flexDirection: 'row', alignItems: 'center', marginTop: 14 }}&gt;&#10;                        &lt;Text style={{ width: 116, fontSize: 19, color: '#4A5568' }}&gt;脚本缺陷&lt;/Text&gt;&#10;                        &lt;Box style={{ width: 452, height: 24, background: '#D9534F', borderRadius: 4 }} /&gt;&#10;                        &lt;Text style={{ fontSize: 22, color: '#D9534F', fontWeight: 'bold', paddingLeft: 12 }}&gt;26 个&lt;/Text&gt;&#10;                    &lt;/Box&gt;&#10;&#10;                    &lt;Text style={{ fontSize: 16, color: '#8B97A8', lineHeight: 1.5, marginTop: 16 }}&gt;结论：验证脚本本身才是主要风险面，因此每条断言都必须写「会失败的条件」而非恒真断言。&lt;/Text&gt;&#10;                &lt;/Box&gt;&#10;&#10;                &lt;Box style={{ height: 246, background: '#FFFFFF', border: '1px solid #D6DCE5', borderRadius: 10, padding: '18px 22px', flexDirection: 'column', marginTop: 16 }}&gt;&#10;                    &lt;Text style={{ fontSize: 20, color: '#0E3F8C', fontWeight: 'bold' }}&gt;覆盖矩阵&lt;/Text&gt;&#10;&#10;                    &lt;Box style={{ flexDirection: 'row', alignItems: 'center', height: 42, borderBottom: '1px solid #F0F2F5', marginTop: 6 }}&gt;&#10;                        &lt;Text style={{ flex: 1, fontSize: 19, color: '#4A5568' }}&gt;Edge · Chromium 内核&lt;/Text&gt;&#10;                        &lt;Text style={{ fontSize: 19, color: '#1E4FA8', fontWeight: 'bold' }}&gt;109 / 109 通过&lt;/Text&gt;&#10;                    &lt;/Box&gt;&#10;                    &lt;Box style={{ flexDirection: 'row', alignItems: 'center', height: 42, borderBottom: '1px solid #F0F2F5' }}&gt;&#10;                        &lt;Text style={{ flex: 1, fontSize: 19, color: '#4A5568' }}&gt;Chrome · Chromium 内核&lt;/Text&gt;&#10;                        &lt;Text style={{ fontSize: 19, color: '#1E4FA8', fontWeight: 'bold' }}&gt;109 / 109 通过&lt;/Text&gt;&#10;                    &lt;/Box&gt;&#10;                    &lt;Box style={{ flexDirection: 'row', alignItems: 'center', height: 42, borderBottom: '1px solid #F0F2F5' }}&gt;&#10;                        &lt;Text style={{ flex: 1, fontSize: 19, color: '#4A5568' }}&gt;Firefox · Gecko 内核&lt;/Text&gt;&#10;                        &lt;Text style={{ fontSize: 19, color: '#1E4FA8', fontWeight: 'bold' }}&gt;109 / 109 通过&lt;/Text&gt;&#10;                    &lt;/Box&gt;&#10;                    &lt;Box style={{ flexDirection: 'row', alignItems: 'center', height: 42 }}&gt;&#10;                        &lt;Text style={{ flex: 1, fontSize: 19, color: '#4A5568' }}&gt;无障碍检测（对比度 / 焦点环）&lt;/Text&gt;&#10;                        &lt;Text style={{ fontSize: 19, color: '#1E4FA8', fontWeight: 'bold' }}&gt;53 项 0 失效&lt;/Text&gt;&#10;                    &lt;/Box&gt;&#10;                &lt;/Box&gt;&#10;            &lt;/Box&gt;&#10;&#10;            &lt;Box style={{ width: 524, height: 512, paddingLeft: 24, flexDirection: 'column' }}&gt;&#10;                &lt;Box style={{ height: 310, background: '#F7F9FC', border: '1px solid #D6DCE5', borderRadius: 10, padding: 14, flexDirection: 'column' }}&gt;&#10;                    &lt;Box style={{ width: '100%', height: 254, borderRadius: 6, overflow: 'hidden', background: '#FFFFFF' }}&gt;&#10;                        &lt;Image src='assets/api_docs.png' style={{ width: '100%', height: '100%', objectFit: 'cover', objectPosition: 'top' }} /&gt;&#10;                    &lt;/Box&gt;&#10;                    &lt;Text style={{ fontSize: 14, color: '#8B97A8', marginTop: 8 }}&gt;图 4　/docs 接口文档本地化后正常渲染（真实浏览器验证）&lt;/Text&gt;&#10;                &lt;/Box&gt;&#10;&#10;                &lt;Box style={{ height: 186, background: '#E8EFF8', borderRadius: 10, padding: '18px 20px', flexDirection: 'column', marginTop: 16 }}&gt;&#10;                    &lt;Text style={{ fontSize: 20, color: '#0E3F8C', fontWeight: 'bold' }}&gt;把「验证脚本也会错」写进报告&lt;/Text&gt;&#10;                    &lt;Text style={{ fontSize: 22, color: '#1A2230', lineHeight: 1.5, marginTop: 10 }}&gt;比只报一个漂亮的通过率，更能说明团队知道自己在测什么、测漏了什么。&lt;/Text&gt;&#10;                &lt;/Box&gt;&#10;            &lt;/Box&gt;&#10;        &lt;/Box&gt;&#10;    &lt;/Box&gt;&#10;&#10;    &lt;Box style={{ height: 40, width: '100%', flexDirection: 'row', alignItems: 'center', justifyContent: 'space-between' }}&gt;&#10;        &lt;Text style={{ fontSize: 14, color: '#8B97A8' }}&gt;汇报人：吕治　·　2026 年 10 月　·　数据科学与大数据技术（2023.9–2027.6）&lt;/Text&gt;&#10;        &lt;Text style={{ fontSize: 14, color: '#1E4FA8', fontWeight: 'bold' }}&gt;15 / 18&lt;/Text&gt;&#10;    &lt;/Box&gt;&#10;&#10;    &lt;Box style={{ height: 20, width: '100%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381000" y="0"/>
            <a:ext cx="11430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47700" y="28575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电商销量预测系统</a:t>
            </a:r>
            <a:r>
              <a:rPr lang="en-US" sz="1200" b="1" spc="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课程答辩演示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0029825" y="304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目标达成度</a:t>
            </a: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质量保障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381000" y="904875"/>
            <a:ext cx="3962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质量保障：把缺陷拦在交付前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9667875" y="10001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缺陷与通过率均来自测试报告统计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381000" y="1409700"/>
            <a:ext cx="6438900" cy="238125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590550" y="1581150"/>
            <a:ext cx="6019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3D7BD9"/>
                </a:solidFill>
                <a:latin typeface="Microsoft YaHei"/>
                <a:ea typeface="Microsoft YaHei"/>
              </a:rPr>
              <a:t>缺陷分布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90550" y="1828800"/>
            <a:ext cx="6019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脚本自身的缺陷是产品的</a:t>
            </a: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倍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590550" y="2295525"/>
            <a:ext cx="1104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产品缺陷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1695450" y="2295525"/>
            <a:ext cx="876300" cy="22860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2571750" y="2276475"/>
            <a:ext cx="523875" cy="257175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590550" y="2686050"/>
            <a:ext cx="1095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脚本缺陷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1685925" y="2686050"/>
            <a:ext cx="4305300" cy="228600"/>
          </a:xfrm>
          <a:prstGeom prst="roundRect">
            <a:avLst>
              <a:gd name="adj" fmla="val 16667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962650" y="2667000"/>
            <a:ext cx="647700" cy="257175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26 </a:t>
            </a: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90550" y="3076575"/>
            <a:ext cx="6019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结论：验证脚本本身才是主要风险面，因此每条断言都必须写「会失败的条件」而非恒真断言。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381000" y="3943350"/>
            <a:ext cx="6438900" cy="2343150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590550" y="4114800"/>
            <a:ext cx="601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覆盖矩阵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590550" y="4400550"/>
            <a:ext cx="6019800" cy="400050"/>
          </a:xfrm>
          <a:custGeom>
            <a:pathLst>
              <a:path w="632" h="42">
                <a:moveTo>
                  <a:pt x="0" y="41"/>
                </a:moveTo>
                <a:lnTo>
                  <a:pt x="632" y="41"/>
                </a:lnTo>
                <a:lnTo>
                  <a:pt x="632" y="42"/>
                </a:lnTo>
                <a:lnTo>
                  <a:pt x="0" y="42"/>
                </a:lnTo>
                <a:close/>
              </a:path>
            </a:pathLst>
          </a:custGeom>
          <a:solidFill>
            <a:srgbClr val="F0F2F5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90550" y="4486275"/>
            <a:ext cx="4733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Edge · Chromium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内核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5324475" y="4486275"/>
            <a:ext cx="1285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109 / 109 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590550" y="4800600"/>
            <a:ext cx="6019800" cy="400050"/>
          </a:xfrm>
          <a:custGeom>
            <a:pathLst>
              <a:path w="632" h="42">
                <a:moveTo>
                  <a:pt x="0" y="41"/>
                </a:moveTo>
                <a:lnTo>
                  <a:pt x="632" y="41"/>
                </a:lnTo>
                <a:lnTo>
                  <a:pt x="632" y="42"/>
                </a:lnTo>
                <a:lnTo>
                  <a:pt x="0" y="42"/>
                </a:lnTo>
                <a:close/>
              </a:path>
            </a:pathLst>
          </a:custGeom>
          <a:solidFill>
            <a:srgbClr val="F0F2F5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590550" y="4886325"/>
            <a:ext cx="4733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Chrome · Chromium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内核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324475" y="4886325"/>
            <a:ext cx="1285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109 / 109 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590550" y="5200650"/>
            <a:ext cx="6019800" cy="400050"/>
          </a:xfrm>
          <a:custGeom>
            <a:pathLst>
              <a:path w="632" h="42">
                <a:moveTo>
                  <a:pt x="0" y="41"/>
                </a:moveTo>
                <a:lnTo>
                  <a:pt x="632" y="41"/>
                </a:lnTo>
                <a:lnTo>
                  <a:pt x="632" y="42"/>
                </a:lnTo>
                <a:lnTo>
                  <a:pt x="0" y="42"/>
                </a:lnTo>
                <a:close/>
              </a:path>
            </a:pathLst>
          </a:custGeom>
          <a:solidFill>
            <a:srgbClr val="F0F2F5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590550" y="5286375"/>
            <a:ext cx="4733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Firefox · Gecko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内核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324475" y="5286375"/>
            <a:ext cx="1285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109 / 109 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90550" y="5695950"/>
            <a:ext cx="4972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无障碍检测（对比度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焦点环）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562600" y="5695950"/>
            <a:ext cx="1047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53 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项</a:t>
            </a: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失效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7048500" y="1409700"/>
            <a:ext cx="4762500" cy="295275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7181850" y="1543050"/>
            <a:ext cx="4495800" cy="241935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14" name=""/>
          <p:cNvPicPr>
            <a:picLocks noChangeAspect="1"/>
          </p:cNvPicPr>
          <p:nvPr/>
        </p:nvPicPr>
        <p:blipFill>
          <a:blip r:embed="rId1"/>
          <a:srcRect l="0" t="2142" r="0" b="2142"/>
          <a:stretch>
            <a:fillRect/>
          </a:stretch>
        </p:blipFill>
        <p:spPr>
          <a:xfrm rot="0" flipH="0" flipV="0">
            <a:off x="7181850" y="1543050"/>
            <a:ext cx="4495800" cy="2419350"/>
          </a:xfrm>
          <a:custGeom>
            <a:pathLst>
              <a:path w="472" h="254">
                <a:moveTo>
                  <a:pt x="466" y="0"/>
                </a:moveTo>
                <a:cubicBezTo>
                  <a:pt x="469" y="0"/>
                  <a:pt x="472" y="3"/>
                  <a:pt x="472" y="6"/>
                </a:cubicBezTo>
                <a:lnTo>
                  <a:pt x="472" y="248"/>
                </a:lnTo>
                <a:cubicBezTo>
                  <a:pt x="472" y="251"/>
                  <a:pt x="469" y="254"/>
                  <a:pt x="466" y="254"/>
                </a:cubicBezTo>
                <a:lnTo>
                  <a:pt x="6" y="254"/>
                </a:lnTo>
                <a:cubicBezTo>
                  <a:pt x="3" y="254"/>
                  <a:pt x="0" y="251"/>
                  <a:pt x="0" y="24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66" y="0"/>
                </a:lnTo>
                <a:close/>
              </a:path>
            </a:pathLst>
          </a:custGeom>
          <a:ln/>
        </p:spPr>
      </p:pic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181850" y="4038600"/>
            <a:ext cx="4495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4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/docs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接口文档本地化后正常渲染（真实浏览器验证）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7048500" y="4514850"/>
            <a:ext cx="4762500" cy="1771650"/>
          </a:xfrm>
          <a:prstGeom prst="roundRect">
            <a:avLst>
              <a:gd name="adj" fmla="val 537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239000" y="4686300"/>
            <a:ext cx="438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把「验证脚本也会错」写进报告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239000" y="5010150"/>
            <a:ext cx="43815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比只报一个漂亮的通过率，更能说明团队知道自己在测什么、测漏了什么。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477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汇报人：吕治　·　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　·　数据科学与大数据技术（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2023.9–2027.6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15 / 18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21" name="" descr="&lt;Slide style={{ width: 1280, height: 720, padding: '0 40px', background: '#FFFFFF', flexDirection: 'column' }}&gt;&#10;    &lt;Box style={{ height: 80, width: '100%', background: '#0E3F8C', flexDirection: 'row', alignItems: 'center', justifyContent: 'space-between', padding: '0 28px' }}&gt;&#10;        &lt;Text style={{ fontSize: 16, color: '#FFFFFF', fontWeight: 'bold', letterSpacing: 1 }}&gt;电商销量预测系统 · 课程答辩演示&lt;/Text&gt;&#10;        &lt;Text style={{ fontSize: 14, color: '#B9CCEF' }}&gt;05 难点与应对&lt;/Text&gt;&#10;    &lt;/Box&gt;&#10;&#10;    &lt;Box style={{ height: 580, width: '100%', flexDirection: 'row' }}&gt;&#10;        &lt;Box style={{ width: 300, height: 580, background: '#0E3F8C', alignItems: 'center', justifyContent: 'center' }}&gt;&#10;            &lt;Text style={{ fontSize: 150, color: '#FFFFFF', fontWeight: 'bold', letterSpacing: 2 }}&gt;05&lt;/Text&gt;&#10;        &lt;/Box&gt;&#10;&#10;        &lt;Box style={{ width: 900, height: 580, padding: '0 34px 0 46px', flexDirection: 'column', justifyContent: 'center' }}&gt;&#10;            &lt;Text style={{ fontSize: 15, color: '#8B97A8', letterSpacing: 3 }}&gt;CHAPTER FIVE&lt;/Text&gt;&#10;            &lt;Text style={{ fontSize: 44, color: '#0E3F8C', fontWeight: 'bold', marginTop: 12 }}&gt;难点与应对&lt;/Text&gt;&#10;            &lt;Box style={{ width: 64, height: 4, background: '#3D7BD9', marginTop: 18 }} /&gt;&#10;&#10;            &lt;Box style={{ flexDirection: 'row', alignItems: 'flex-start', gap: 16, marginTop: 30 }}&gt;&#10;                &lt;Box style={{ width: 34, height: 34, background: '#1E4FA8', borderRadius: 6, alignItems: 'center', justifyContent: 'center' }}&gt;&#10;                    &lt;Text style={{ fontSize: 16, color: '#FFFFFF', fontWeight: 'bold' }}&gt;01&lt;/Text&gt;&#10;                &lt;/Box&gt;&#10;                &lt;Text style={{ flex: 1, fontSize: 22, color: '#1A2230', lineHeight: 1.6 }}&gt;数据稀疏、模型塌回均值、营销尖峰被误判为异常这三个问题都来自默认做法的隐含假设&lt;/Text&gt;&#10;            &lt;/Box&gt;&#10;&#10;            &lt;Box style={{ flexDirection: 'row', alignItems: 'flex-start', gap: 16, marginTop: 20 }}&gt;&#10;                &lt;Box style={{ width: 34, height: 34, background: '#1E4FA8', borderRadius: 6, alignItems: 'center', justifyContent: 'center' }}&gt;&#10;                    &lt;Text style={{ fontSize: 16, color: '#FFFFFF', fontWeight: 'bold' }}&gt;02&lt;/Text&gt;&#10;                &lt;/Box&gt;&#10;                &lt;Text style={{ flex: 1, fontSize: 22, color: '#1A2230', lineHeight: 1.6 }}&gt;2 GB 显存与 1 分钟 SLA 的张力通过预训练推理化解，训练全部移出在线路径&lt;/Text&gt;&#10;            &lt;/Box&gt;&#10;&#10;            &lt;Box style={{ flexDirection: 'row', alignItems: 'flex-start', gap: 16, marginTop: 20 }}&gt;&#10;                &lt;Box style={{ width: 34, height: 34, background: '#1E4FA8', borderRadius: 6, alignItems: 'center', justifyContent: 'center' }}&gt;&#10;                    &lt;Text style={{ fontSize: 16, color: '#FFFFFF', fontWeight: 'bold' }}&gt;03&lt;/Text&gt;&#10;                &lt;/Box&gt;&#10;                &lt;Text style={{ flex: 1, fontSize: 22, color: '#1A2230', lineHeight: 1.6 }}&gt;国内网络下接口文档白屏，通过资源随仓库冻结并本地托管彻底解决&lt;/Text&gt;&#10;            &lt;/Box&gt;&#10;        &lt;/Box&gt;&#10;    &lt;/Box&gt;&#10;&#10;    &lt;Box style={{ height: 40, width: '100%', flexDirection: 'row', alignItems: 'center', justifyContent: 'space-between' }}&gt;&#10;        &lt;Text style={{ fontSize: 14, color: '#8B97A8' }}&gt;汇报人：吕治　·　2026 年 10 月　·　数据科学与大数据技术（2023.9–2027.6）&lt;/Text&gt;&#10;        &lt;Text style={{ fontSize: 14, color: '#1E4FA8', fontWeight: 'bold' }}&gt;16 / 18&lt;/Text&gt;&#10;    &lt;/Box&gt;&#10;&#10;    &lt;Box style={{ height: 20, width: '100%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381000" y="0"/>
            <a:ext cx="11430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47700" y="28575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电商销量预测系统</a:t>
            </a:r>
            <a:r>
              <a:rPr lang="en-US" sz="1200" b="1" spc="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课程答辩演示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0677525" y="304800"/>
            <a:ext cx="866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05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难点与应对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381000" y="762000"/>
            <a:ext cx="2857500" cy="5524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904875" y="2667000"/>
            <a:ext cx="180975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 spc="150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3676650" y="1876425"/>
            <a:ext cx="781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8B97A8"/>
                </a:solidFill>
                <a:latin typeface="Microsoft YaHei"/>
                <a:ea typeface="Microsoft YaHei"/>
              </a:rPr>
              <a:t>CHAPTER FIVE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676650" y="2162175"/>
            <a:ext cx="78105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Microsoft YaHei"/>
                <a:ea typeface="Microsoft YaHei"/>
              </a:rPr>
              <a:t>难点与应对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3676650" y="2838450"/>
            <a:ext cx="6096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3676650" y="31623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3743325" y="3228975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4152900" y="3162300"/>
            <a:ext cx="733425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数据稀疏、模型塌回均值、营销尖峰被误判为异常这三个问题都来自默认做法的隐含假设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3676650" y="416242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3743325" y="42291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4152900" y="4162425"/>
            <a:ext cx="733425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2 GB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显存与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分钟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SLA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的张力通过预训练推理化解，训练全部移出在线路径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3676650" y="47625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3743325" y="4829175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4152900" y="4762500"/>
            <a:ext cx="733425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国内网络下接口文档白屏，通过资源随仓库冻结并本地托管彻底解决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477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汇报人：吕治　·　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　·　数据科学与大数据技术（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2023.9–2027.6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16 / 18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42" name="" descr="&lt;Slide style={{ width: 1280, height: 720, padding: '0 40px', background: '#FFFFFF', flexDirection: 'column' }}&gt;&#10;    &lt;Box style={{ height: 80, width: '100%', background: '#0E3F8C', flexDirection: 'row', alignItems: 'center', justifyContent: 'space-between', padding: '0 28px' }}&gt;&#10;        &lt;Text style={{ fontSize: 16, color: '#FFFFFF', fontWeight: 'bold', letterSpacing: 1 }}&gt;电商销量预测系统 · 课程答辩演示&lt;/Text&gt;&#10;        &lt;Text style={{ fontSize: 14, color: '#B9CCEF' }}&gt;05 难点与应对 · 解法&lt;/Text&gt;&#10;    &lt;/Box&gt;&#10;&#10;    &lt;Box style={{ height: 580, width: '100%', flexDirection: 'column' }}&gt;&#10;        &lt;Box style={{ height: 68, width: '100%', flexDirection: 'row', alignItems: 'center', justifyContent: 'space-between' }}&gt;&#10;            &lt;Text style={{ fontSize: 32, color: '#0E3F8C', fontWeight: 'bold' }}&gt;五个真实难点与其应对&lt;/Text&gt;&#10;            &lt;Text style={{ fontSize: 15, color: '#8B97A8' }}&gt;共性：默认做法会在真实环境里失效&lt;/Text&gt;&#10;        &lt;/Box&gt;&#10;&#10;        &lt;Box style={{ height: 512, width: '100%', flexDirection: 'row' }}&gt;&#10;            &lt;Box style={{ width: 646, height: 512, flexDirection: 'column' }}&gt;&#10;                &lt;Text style={{ fontSize: 15, color: '#3D7BD9', letterSpacing: 2, marginBottom: 8 }}&gt;难点 → 应对&lt;/Text&gt;&#10;&#10;                &lt;Box style={{ flexDirection: 'row', alignItems: 'center', height: 90 }}&gt;&#10;                    &lt;Box style={{ width: 236, height: 76, background: '#E8EFF8', borderRadius: 8, padding: '0 14px', flexDirection: 'column', justifyContent: 'center' }}&gt;&#10;                        &lt;Text style={{ fontSize: 17, color: '#0E3F8C', fontWeight: 'bold' }}&gt;数据稀疏&lt;/Text&gt;&#10;                        &lt;Text style={{ fontSize: 14, color: '#5A6678', marginTop: 4 }}&gt;多数序列无足够历史&lt;/Text&gt;&#10;                    &lt;/Box&gt;&#10;                    &lt;Box style={{ width: 36, alignItems: 'center', justifyContent: 'center' }}&gt;&#10;                        &lt;Text style={{ fontSize: 22, color: '#3D7BD9' }}&gt;→&lt;/Text&gt;&#10;                    &lt;/Box&gt;&#10;                    &lt;Box style={{ flex: 1, height: 76, background: '#FFFFFF', border: '1px solid #D6DCE5', borderRadius: 8, padding: '0 14px', flexDirection: 'column', justifyContent: 'center' }}&gt;&#10;                        &lt;Text style={{ fontSize: 17, color: '#1A2230' }}&gt;三级降级兜底，覆盖率分级暴露给前端&lt;/Text&gt;&#10;                    &lt;/Box&gt;&#10;                &lt;/Box&gt;&#10;&#10;                &lt;Box style={{ flexDirection: 'row', alignItems: 'center', height: 90 }}&gt;&#10;                    &lt;Box style={{ width: 236, height: 76, background: '#E8EFF8', borderRadius: 8, padding: '0 14px', flexDirection: 'column', justifyContent: 'center' }}&gt;&#10;                        &lt;Text style={{ fontSize: 17, color: '#0E3F8C', fontWeight: 'bold' }}&gt;模型塌回均值&lt;/Text&gt;&#10;                        &lt;Text style={{ fontSize: 14, color: '#5A6678', marginTop: 4 }}&gt;预测曲线趋于平直&lt;/Text&gt;&#10;                    &lt;/Box&gt;&#10;                    &lt;Box style={{ width: 36, alignItems: 'center', justifyContent: 'center' }}&gt;&#10;                        &lt;Text style={{ fontSize: 22, color: '#3D7BD9' }}&gt;→&lt;/Text&gt;&#10;                    &lt;/Box&gt;&#10;                    &lt;Box style={{ flex: 1, height: 76, background: '#FFFFFF', border: '1px solid #D6DCE5', borderRadius: 8, padding: '0 14px', flexDirection: 'column', justifyContent: 'center' }}&gt;&#10;                        &lt;Text style={{ fontSize: 17, color: '#1A2230' }}&gt;改为学残差，并设退化序列 σ 过滤&lt;/Text&gt;&#10;                    &lt;/Box&gt;&#10;                &lt;/Box&gt;&#10;&#10;                &lt;Box style={{ flexDirection: 'row', alignItems: 'center', height: 90 }}&gt;&#10;                    &lt;Box style={{ width: 236, height: 76, background: '#E8EFF8', borderRadius: 8, padding: '0 14px', flexDirection: 'column', justifyContent: 'center' }}&gt;&#10;                        &lt;Text style={{ fontSize: 17, color: '#0E3F8C', fontWeight: 'bold' }}&gt;营销尖峰被误判&lt;/Text&gt;&#10;                        &lt;Text style={{ fontSize: 14, color: '#5A6678', marginTop: 4 }}&gt;大促被当成异常截掉&lt;/Text&gt;&#10;                    &lt;/Box&gt;&#10;                    &lt;Box style={{ width: 36, alignItems: 'center', justifyContent: 'center' }}&gt;&#10;                        &lt;Text style={{ fontSize: 22, color: '#3D7BD9' }}&gt;→&lt;/Text&gt;&#10;                    &lt;/Box&gt;&#10;                    &lt;Box style={{ flex: 1, height: 76, background: '#FFFFFF', border: '1px solid #D6DCE5', borderRadius: 8, padding: '0 14px', flexDirection: 'column', justifyContent: 'center' }}&gt;&#10;                        &lt;Text style={{ fontSize: 17, color: '#1A2230' }}&gt;截断时保护日历节点，保留可学信号&lt;/Text&gt;&#10;                    &lt;/Box&gt;&#10;                &lt;/Box&gt;&#10;&#10;                &lt;Box style={{ flexDirection: 'row', alignItems: 'center', height: 90 }}&gt;&#10;                    &lt;Box style={{ width: 236, height: 76, background: '#E8EFF8', borderRadius: 8, padding: '0 14px', flexDirection: 'column', justifyContent: 'center' }}&gt;&#10;                        &lt;Text style={{ fontSize: 17, color: '#0E3F8C', fontWeight: 'bold' }}&gt;显存与 SLA 冲突&lt;/Text&gt;&#10;                        &lt;Text style={{ fontSize: 14, color: '#5A6678', marginTop: 4 }}&gt;2 GB 显存 vs 1 分钟&lt;/Text&gt;&#10;                    &lt;/Box&gt;&#10;                    &lt;Box style={{ width: 36, alignItems: 'center', justifyContent: 'center' }}&gt;&#10;                        &lt;Text style={{ fontSize: 22, color: '#3D7BD9' }}&gt;→&lt;/Text&gt;&#10;                    &lt;/Box&gt;&#10;                    &lt;Box style={{ flex: 1, height: 76, background: '#FFFFFF', border: '1px solid #D6DCE5', borderRadius: 8, padding: '0 14px', flexDirection: 'column', justifyContent: 'center' }}&gt;&#10;                        &lt;Text style={{ fontSize: 17, color: '#1A2230' }}&gt;预训练推理，把训练整条移出在线路径&lt;/Text&gt;&#10;                    &lt;/Box&gt;&#10;                &lt;/Box&gt;&#10;&#10;                &lt;Box style={{ flexDirection: 'row', alignItems: 'center', height: 90 }}&gt;&#10;                    &lt;Box style={{ width: 236, height: 76, background: '#E8EFF8', borderRadius: 8, padding: '0 14px', flexDirection: 'column', justifyContent: 'center' }}&gt;&#10;                        &lt;Text style={{ fontSize: 17, color: '#0E3F8C', fontWeight: 'bold' }}&gt;接口文档白屏&lt;/Text&gt;&#10;                        &lt;Text style={{ fontSize: 14, color: '#5A6678', marginTop: 4 }}&gt;受限网络下 CDN 不可达&lt;/Text&gt;&#10;                    &lt;/Box&gt;&#10;                    &lt;Box style={{ width: 36, alignItems: 'center', justifyContent: 'center' }}&gt;&#10;                        &lt;Text style={{ fontSize: 22, color: '#3D7BD9' }}&gt;→&lt;/Text&gt;&#10;                    &lt;/Box&gt;&#10;                    &lt;Box style={{ flex: 1, height: 76, background: '#FFFFFF', border: '1px solid #D6DCE5', borderRadius: 8, padding: '0 14px', flexDirection: 'column', justifyContent: 'center' }}&gt;&#10;                        &lt;Text style={{ fontSize: 17, color: '#1A2230' }}&gt;资源随仓库冻结本地托管，关闭默认外链&lt;/Text&gt;&#10;                    &lt;/Box&gt;&#10;                &lt;/Box&gt;&#10;            &lt;/Box&gt;&#10;&#10;            &lt;Box style={{ width: 554, height: 512, paddingLeft: 24, flexDirection: 'column' }}&gt;&#10;                &lt;Box style={{ height: 260, background: '#F7F9FC', border: '1px solid #D6DCE5', borderRadius: 10, padding: '18px 20px', flexDirection: 'column' }}&gt;&#10;                    &lt;Text style={{ fontSize: 15, color: '#3D7BD9', letterSpacing: 2 }}&gt;共性&lt;/Text&gt;&#10;                    &lt;Text style={{ fontSize: 24, color: '#0E3F8C', fontWeight: 'bold', marginTop: 8 }}&gt;把隐含假设显式化为约束&lt;/Text&gt;&#10;                    &lt;Text style={{ fontSize: 22, color: '#1A2230', lineHeight: 1.5, marginTop: 12 }}&gt;五个难点都源于某个未被检验的默认前提。应对方式不是调参，而是把该前提写成代码里的阈值或配置项。&lt;/Text&gt;&#10;                &lt;/Box&gt;&#10;&#10;                &lt;Box style={{ height: 236, background: '#F7F9FC', border: '1px solid #D6DCE5', borderRadius: 10, padding: 14, flexDirection: 'column', marginTop: 16 }}&gt;&#10;                    &lt;Box style={{ width: '100%', height: 176, borderRadius: 6, overflow: 'hidden', background: '#FFFFFF' }}&gt;&#10;                        &lt;Image src='assets/api_redoc.png' style={{ width: '100%', height: '100%', objectFit: 'contain' }} /&gt;&#10;                    &lt;/Box&gt;&#10;                    &lt;Text style={{ fontSize: 14, color: '#8B97A8', marginTop: 8 }}&gt;图 5　/redoc 视图：外部字体与图标已全部换成本地资源&lt;/Text&gt;&#10;                &lt;/Box&gt;&#10;            &lt;/Box&gt;&#10;        &lt;/Box&gt;&#10;    &lt;/Box&gt;&#10;&#10;    &lt;Box style={{ height: 40, width: '100%', flexDirection: 'row', alignItems: 'center', justifyContent: 'space-between' }}&gt;&#10;        &lt;Text style={{ fontSize: 14, color: '#8B97A8' }}&gt;汇报人：吕治　·　2026 年 10 月　·　数据科学与大数据技术（2023.9–2027.6）&lt;/Text&gt;&#10;        &lt;Text style={{ fontSize: 14, color: '#1E4FA8', fontWeight: 'bold' }}&gt;17 / 18&lt;/Text&gt;&#10;    &lt;/Box&gt;&#10;&#10;    &lt;Box style={{ height: 20, width: '100%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381000" y="0"/>
            <a:ext cx="11430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47700" y="28575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电商销量预测系统</a:t>
            </a:r>
            <a:r>
              <a:rPr lang="en-US" sz="1200" b="1" spc="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课程答辩演示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0296525" y="3048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05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难点与应对</a:t>
            </a:r>
            <a:r>
              <a:rPr lang="en-US" sz="1050">
                <a:solidFill>
                  <a:srgbClr val="B9CCE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解法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381000" y="904875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五个真实难点与其应对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9525000" y="1000125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共性：默认做法会在真实环境里失效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381000" y="1409700"/>
            <a:ext cx="6153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3D7BD9"/>
                </a:solidFill>
                <a:latin typeface="Microsoft YaHei"/>
                <a:ea typeface="Microsoft YaHei"/>
              </a:rPr>
              <a:t>难点</a:t>
            </a:r>
            <a:r>
              <a:rPr lang="en-US" sz="1125" spc="150">
                <a:solidFill>
                  <a:srgbClr val="3D7BD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 spc="150">
                <a:solidFill>
                  <a:srgbClr val="3D7BD9"/>
                </a:solidFill>
                <a:latin typeface="Microsoft YaHei"/>
                <a:ea typeface="Microsoft YaHei"/>
              </a:rPr>
              <a:t>应对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381000" y="1724025"/>
            <a:ext cx="2247900" cy="723900"/>
          </a:xfrm>
          <a:prstGeom prst="roundRect">
            <a:avLst>
              <a:gd name="adj" fmla="val 1052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514350" y="1885950"/>
            <a:ext cx="198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数据稀疏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514350" y="2124075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678"/>
                </a:solidFill>
                <a:latin typeface="Microsoft YaHei"/>
                <a:ea typeface="Microsoft YaHei"/>
              </a:rPr>
              <a:t>多数序列无足够历史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2695575" y="19621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3D7B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2971800" y="1724025"/>
            <a:ext cx="35623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3105150" y="1990725"/>
            <a:ext cx="3295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三级降级兜底，覆盖率分级暴露给前端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381000" y="2581275"/>
            <a:ext cx="2247900" cy="723900"/>
          </a:xfrm>
          <a:prstGeom prst="roundRect">
            <a:avLst>
              <a:gd name="adj" fmla="val 1052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514350" y="2743200"/>
            <a:ext cx="198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模型塌回均值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514350" y="2981325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678"/>
                </a:solidFill>
                <a:latin typeface="Microsoft YaHei"/>
                <a:ea typeface="Microsoft YaHei"/>
              </a:rPr>
              <a:t>预测曲线趋于平直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2695575" y="28194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3D7B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2971800" y="2581275"/>
            <a:ext cx="35623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3105150" y="2847975"/>
            <a:ext cx="3295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改为学残差，并设退化序列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σ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过滤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381000" y="3438525"/>
            <a:ext cx="2247900" cy="723900"/>
          </a:xfrm>
          <a:prstGeom prst="roundRect">
            <a:avLst>
              <a:gd name="adj" fmla="val 1052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514350" y="3600450"/>
            <a:ext cx="198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营销尖峰被误判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514350" y="3838575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678"/>
                </a:solidFill>
                <a:latin typeface="Microsoft YaHei"/>
                <a:ea typeface="Microsoft YaHei"/>
              </a:rPr>
              <a:t>大促被当成异常截掉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2695575" y="36766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3D7B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2971800" y="3438525"/>
            <a:ext cx="35623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3105150" y="3705225"/>
            <a:ext cx="3295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截断时保护日历节点，保留可学信号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381000" y="4295775"/>
            <a:ext cx="2247900" cy="723900"/>
          </a:xfrm>
          <a:prstGeom prst="roundRect">
            <a:avLst>
              <a:gd name="adj" fmla="val 1052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514350" y="4457700"/>
            <a:ext cx="198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显存与</a:t>
            </a: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SLA </a:t>
            </a: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冲突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514350" y="4695825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A6678"/>
                </a:solidFill>
                <a:latin typeface="Microsoft YaHei"/>
                <a:ea typeface="Microsoft YaHei"/>
              </a:rPr>
              <a:t xml:space="preserve">2 GB </a:t>
            </a:r>
            <a:r>
              <a:rPr lang="zh-CN" sz="1050">
                <a:solidFill>
                  <a:srgbClr val="5A6678"/>
                </a:solidFill>
                <a:latin typeface="Microsoft YaHei"/>
                <a:ea typeface="Microsoft YaHei"/>
              </a:rPr>
              <a:t>显存</a:t>
            </a:r>
            <a:r>
              <a:rPr lang="en-US" sz="1050">
                <a:solidFill>
                  <a:srgbClr val="5A6678"/>
                </a:solidFill>
                <a:latin typeface="Microsoft YaHei"/>
                <a:ea typeface="Microsoft YaHei"/>
              </a:rPr>
              <a:t xml:space="preserve"> vs 1 </a:t>
            </a:r>
            <a:r>
              <a:rPr lang="zh-CN" sz="1050">
                <a:solidFill>
                  <a:srgbClr val="5A6678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2695575" y="45339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3D7B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2971800" y="4295775"/>
            <a:ext cx="35623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3105150" y="4562475"/>
            <a:ext cx="3295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预训练推理，把训练整条移出在线路径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381000" y="5153025"/>
            <a:ext cx="2247900" cy="723900"/>
          </a:xfrm>
          <a:prstGeom prst="roundRect">
            <a:avLst>
              <a:gd name="adj" fmla="val 1052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514350" y="5314950"/>
            <a:ext cx="198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接口文档白屏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514350" y="5553075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678"/>
                </a:solidFill>
                <a:latin typeface="Microsoft YaHei"/>
                <a:ea typeface="Microsoft YaHei"/>
              </a:rPr>
              <a:t>受限网络下</a:t>
            </a:r>
            <a:r>
              <a:rPr lang="en-US" sz="1050">
                <a:solidFill>
                  <a:srgbClr val="5A6678"/>
                </a:solidFill>
                <a:latin typeface="Microsoft YaHei"/>
                <a:ea typeface="Microsoft YaHei"/>
              </a:rPr>
              <a:t xml:space="preserve"> CDN </a:t>
            </a:r>
            <a:r>
              <a:rPr lang="zh-CN" sz="1050">
                <a:solidFill>
                  <a:srgbClr val="5A6678"/>
                </a:solidFill>
                <a:latin typeface="Microsoft YaHei"/>
                <a:ea typeface="Microsoft YaHei"/>
              </a:rPr>
              <a:t>不可达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2695575" y="53911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3D7B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2971800" y="5153025"/>
            <a:ext cx="35623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3105150" y="5419725"/>
            <a:ext cx="3295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资源随仓库冻结本地托管，关闭默认外链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762750" y="1409700"/>
            <a:ext cx="5048250" cy="2476500"/>
          </a:xfrm>
          <a:prstGeom prst="roundRect">
            <a:avLst>
              <a:gd name="adj" fmla="val 384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953250" y="1581150"/>
            <a:ext cx="466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3D7BD9"/>
                </a:solidFill>
                <a:latin typeface="Microsoft YaHei"/>
                <a:ea typeface="Microsoft YaHei"/>
              </a:rPr>
              <a:t>共性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953250" y="1828800"/>
            <a:ext cx="4667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把隐含假设显式化为约束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953250" y="2219325"/>
            <a:ext cx="4667250" cy="1133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五个难点都源于某个未被检验的默认前提。应对方式不是调参，而是把该前提写成代码里的阈值或配置项。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6762750" y="4038600"/>
            <a:ext cx="5048250" cy="2247900"/>
          </a:xfrm>
          <a:prstGeom prst="roundRect">
            <a:avLst>
              <a:gd name="adj" fmla="val 423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6896100" y="4171950"/>
            <a:ext cx="4781550" cy="167640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86" name=""/>
          <p:cNvPicPr>
            <a:picLocks noChangeAspect="1"/>
          </p:cNvPicPr>
          <p:nvPr/>
        </p:nvPicPr>
        <p:blipFill>
          <a:blip r:embed="rId1"/>
          <a:srcRect l="0" t="18820" r="0" b="18820"/>
          <a:stretch>
            <a:fillRect/>
          </a:stretch>
        </p:blipFill>
        <p:spPr>
          <a:xfrm rot="0" flipH="0" flipV="0">
            <a:off x="6896100" y="4171950"/>
            <a:ext cx="4781550" cy="1676400"/>
          </a:xfrm>
          <a:custGeom>
            <a:pathLst>
              <a:path w="502" h="176">
                <a:moveTo>
                  <a:pt x="496" y="0"/>
                </a:moveTo>
                <a:cubicBezTo>
                  <a:pt x="499" y="0"/>
                  <a:pt x="502" y="3"/>
                  <a:pt x="502" y="6"/>
                </a:cubicBezTo>
                <a:lnTo>
                  <a:pt x="502" y="170"/>
                </a:lnTo>
                <a:cubicBezTo>
                  <a:pt x="502" y="173"/>
                  <a:pt x="499" y="176"/>
                  <a:pt x="496" y="176"/>
                </a:cubicBezTo>
                <a:lnTo>
                  <a:pt x="6" y="176"/>
                </a:lnTo>
                <a:cubicBezTo>
                  <a:pt x="3" y="176"/>
                  <a:pt x="0" y="173"/>
                  <a:pt x="0" y="17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6" y="0"/>
                </a:lnTo>
                <a:close/>
              </a:path>
            </a:pathLst>
          </a:custGeom>
          <a:ln/>
        </p:spPr>
      </p:pic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896100" y="5924550"/>
            <a:ext cx="4781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5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/redoc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视图：外部字体与图标已全部换成本地资源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477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汇报人：吕治　·　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　·　数据科学与大数据技术（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2023.9–2027.6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17 / 18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90" name="" descr="&lt;Slide style={{ width: 1280, height: 720, padding: '0 40px', background: '#FFFFFF', flexDirection: 'column' }}&gt;&#10;    &lt;Box style={{ height: 80, width: '100%', background: '#0E3F8C', flexDirection: 'row', alignItems: 'center', justifyContent: 'space-between', padding: '0 28px' }}&gt;&#10;        &lt;Text style={{ fontSize: 16, color: '#FFFFFF', fontWeight: 'bold', letterSpacing: 1 }}&gt;电商销量预测系统 · 课程答辩演示&lt;/Text&gt;&#10;        &lt;Text style={{ fontSize: 14, color: '#B9CCEF' }}&gt;结语与致谢&lt;/Text&gt;&#10;    &lt;/Box&gt;&#10;&#10;    &lt;Box style={{ height: 580, width: '100%', flexDirection: 'row' }}&gt;&#10;        &lt;Box style={{ width: 700, height: 580, paddingRight: 24, flexDirection: 'column' }}&gt;&#10;            &lt;Box style={{ width: 676, height: 504, border: '1px solid #D6DCE5', borderRadius: 10, overflow: 'hidden', background: '#F7F9FC' }}&gt;&#10;                &lt;Image src='assets/api_redoc.png' style={{ width: '100%', height: '100%', objectFit: 'cover', objectPosition: 'left top' }} /&gt;&#10;            &lt;/Box&gt;&#10;            &lt;Text style={{ fontSize: 14, color: '#8B97A8', marginTop: 10 }}&gt;图 6　交付件之一：可离线渲染的接口文档（/redoc 视图）&lt;/Text&gt;&#10;        &lt;/Box&gt;&#10;&#10;        &lt;Box style={{ width: 500, height: 580, background: '#0E3F8C', padding: '34px 32px', flexDirection: 'column' }}&gt;&#10;            &lt;Text style={{ fontSize: 15, color: '#7BA3E0', letterSpacing: 3 }}&gt;THANK YOU&lt;/Text&gt;&#10;            &lt;Text style={{ fontSize: 42, color: '#FFFFFF', fontWeight: 'bold', marginTop: 12 }}&gt;感谢各位老师&lt;/Text&gt;&#10;            &lt;Box style={{ width: 56, height: 4, background: '#3D7BD9', marginTop: 16 }} /&gt;&#10;&#10;            &lt;Box style={{ flexDirection: 'row', alignItems: 'flex-start', marginTop: 26 }}&gt;&#10;                &lt;Text style={{ width: 30, fontSize: 20, color: '#7BA3E0', fontWeight: 'bold' }}&gt;01&lt;/Text&gt;&#10;                &lt;Text style={{ flex: 1, fontSize: 20, color: '#E8EFF8', lineHeight: 1.5 }}&gt;指标真实可复现：四项硬指标全部取自样本外回测&lt;/Text&gt;&#10;            &lt;/Box&gt;&#10;            &lt;Box style={{ flexDirection: 'row', alignItems: 'flex-start', marginTop: 18 }}&gt;&#10;                &lt;Text style={{ width: 30, fontSize: 20, color: '#7BA3E0', fontWeight: 'bold' }}&gt;02&lt;/Text&gt;&#10;                &lt;Text style={{ flex: 1, fontSize: 20, color: '#E8EFF8', lineHeight: 1.5 }}&gt;降级路径经过设计：L2 在真实数据下占 28.3%&lt;/Text&gt;&#10;            &lt;/Box&gt;&#10;            &lt;Box style={{ flexDirection: 'row', alignItems: 'flex-start', marginTop: 18 }}&gt;&#10;                &lt;Text style={{ width: 30, fontSize: 20, color: '#7BA3E0', fontWeight: 'bold' }}&gt;03&lt;/Text&gt;&#10;                &lt;Text style={{ flex: 1, fontSize: 20, color: '#E8EFF8', lineHeight: 1.5 }}&gt;工程链路完整：代码、接口、测试、部署、文档齐备&lt;/Text&gt;&#10;            &lt;/Box&gt;&#10;&#10;            &lt;Box style={{ flex: 1 }} /&gt;&#10;&#10;            &lt;Text style={{ fontSize: 22, color: '#C7D8F2' }}&gt;请批评指正　·　欢迎提问&lt;/Text&gt;&#10;        &lt;/Box&gt;&#10;    &lt;/Box&gt;&#10;&#10;    &lt;Box style={{ height: 40, width: '100%', flexDirection: 'row', alignItems: 'center', justifyContent: 'space-between' }}&gt;&#10;        &lt;Text style={{ fontSize: 14, color: '#8B97A8' }}&gt;汇报人：吕治　·　2026 年 10 月　·　数据科学与大数据技术（2023.9–2027.6）&lt;/Text&gt;&#10;        &lt;Text style={{ fontSize: 14, color: '#1E4FA8', fontWeight: 'bold' }}&gt;18 / 18&lt;/Text&gt;&#10;    &lt;/Box&gt;&#10;&#10;    &lt;Box style={{ height: 20, width: '100%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381000" y="0"/>
            <a:ext cx="11430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47700" y="28575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电商销量预测系统</a:t>
            </a:r>
            <a:r>
              <a:rPr lang="en-US" sz="1200" b="1" spc="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课程答辩演示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0877550" y="30480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CEF"/>
                </a:solidFill>
                <a:latin typeface="Microsoft YaHei"/>
                <a:ea typeface="Microsoft YaHei"/>
              </a:rPr>
              <a:t>结语与致谢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381000" y="762000"/>
            <a:ext cx="6438900" cy="4800600"/>
          </a:xfrm>
          <a:prstGeom prst="roundRect">
            <a:avLst>
              <a:gd name="adj" fmla="val 198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96" name=""/>
          <p:cNvPicPr>
            <a:picLocks noChangeAspect="1"/>
          </p:cNvPicPr>
          <p:nvPr/>
        </p:nvPicPr>
        <p:blipFill>
          <a:blip r:embed="rId1"/>
          <a:srcRect l="12295" t="0" r="12295" b="0"/>
          <a:stretch>
            <a:fillRect/>
          </a:stretch>
        </p:blipFill>
        <p:spPr>
          <a:xfrm rot="0" flipH="0" flipV="0">
            <a:off x="381000" y="762000"/>
            <a:ext cx="6438900" cy="4800600"/>
          </a:xfrm>
          <a:custGeom>
            <a:pathLst>
              <a:path w="676" h="504">
                <a:moveTo>
                  <a:pt x="666" y="0"/>
                </a:moveTo>
                <a:cubicBezTo>
                  <a:pt x="672" y="0"/>
                  <a:pt x="676" y="5"/>
                  <a:pt x="676" y="10"/>
                </a:cubicBezTo>
                <a:lnTo>
                  <a:pt x="676" y="494"/>
                </a:lnTo>
                <a:cubicBezTo>
                  <a:pt x="676" y="500"/>
                  <a:pt x="672" y="504"/>
                  <a:pt x="666" y="504"/>
                </a:cubicBezTo>
                <a:lnTo>
                  <a:pt x="10" y="504"/>
                </a:lnTo>
                <a:cubicBezTo>
                  <a:pt x="4" y="504"/>
                  <a:pt x="0" y="500"/>
                  <a:pt x="0" y="494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666" y="0"/>
                </a:lnTo>
                <a:close/>
              </a:path>
            </a:pathLst>
          </a:custGeom>
          <a:ln/>
        </p:spPr>
      </p:pic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381000" y="5657850"/>
            <a:ext cx="643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6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　交付件之一：可离线渲染的接口文档（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/redoc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视图）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7048500" y="762000"/>
            <a:ext cx="4762500" cy="5524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7353300" y="1085850"/>
            <a:ext cx="415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7BA3E0"/>
                </a:solidFill>
                <a:latin typeface="Microsoft YaHei"/>
                <a:ea typeface="Microsoft YaHei"/>
              </a:rPr>
              <a:t>THANK YOU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7353300" y="1371600"/>
            <a:ext cx="41529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感谢各位老师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7353300" y="2009775"/>
            <a:ext cx="5334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7353300" y="2295525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7BA3E0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7639050" y="2295525"/>
            <a:ext cx="38671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指标真实可复现：四项硬指标全部取自样本外回测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7353300" y="3152775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7BA3E0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639050" y="3152775"/>
            <a:ext cx="38671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降级路径经过设计：</a:t>
            </a:r>
            <a:r>
              <a:rPr lang="en-US" sz="1500">
                <a:solidFill>
                  <a:srgbClr val="E8EFF8"/>
                </a:solidFill>
                <a:latin typeface="Microsoft YaHei"/>
                <a:ea typeface="Microsoft YaHei"/>
              </a:rPr>
              <a:t xml:space="preserve">L2 </a:t>
            </a: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在真实数据下占</a:t>
            </a:r>
            <a:r>
              <a:rPr lang="en-US" sz="1500">
                <a:solidFill>
                  <a:srgbClr val="E8EFF8"/>
                </a:solidFill>
                <a:latin typeface="Microsoft YaHei"/>
                <a:ea typeface="Microsoft YaHei"/>
              </a:rPr>
              <a:t xml:space="preserve"> 28.3%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7353300" y="4010025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7BA3E0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7639050" y="4010025"/>
            <a:ext cx="38671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E8EFF8"/>
                </a:solidFill>
                <a:latin typeface="Microsoft YaHei"/>
                <a:ea typeface="Microsoft YaHei"/>
              </a:rPr>
              <a:t>工程链路完整：代码、接口、测试、部署、文档齐备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7353300" y="5705475"/>
            <a:ext cx="4152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C7D8F2"/>
                </a:solidFill>
                <a:latin typeface="Microsoft YaHei"/>
                <a:ea typeface="Microsoft YaHei"/>
              </a:rPr>
              <a:t>请批评指正　·　欢迎提问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477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汇报人：吕治　·　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月　·　数据科学与大数据技术（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2023.9–2027.6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18 / 18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2026-10-13T10:21:21Z</dcterms:created>
  <dcterms:modified xsi:type="dcterms:W3CDTF">2026-10-13T10:21:21Z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{"AIGC":{"Label":"1","ContentProducer":"00119111010856365494821B355","ProduceID":"e3c0474325034040aedb4cb02e143f60","ReservedCode1":"","ContentPropagator":"00119111010856365494821B355","PropagateID":"e3c0474325034040aedb4cb02e143f60","ReservedCode2":""}}</vt:lpwstr>
  </property>
</Properties>
</file>