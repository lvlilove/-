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4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0972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5400" b="1">
                <a:solidFill>
                  <a:srgbClr val="FFFFFF"/>
                </a:solidFill>
              </a:defRPr>
            </a:pPr>
            <a:r>
              <a:t>猫屿 CAT ISLE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488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2000" b="0">
                <a:solidFill>
                  <a:srgbClr val="E8D8C2"/>
                </a:solidFill>
              </a:defRPr>
            </a:pPr>
            <a:r>
              <a:t>猫 咖 官 网 · 项 目 验 收 演 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600" b="0">
                <a:solidFill>
                  <a:srgbClr val="C9B59C"/>
                </a:solidFill>
              </a:defRPr>
            </a:pPr>
            <a:r>
              <a:t>在猫的节奏里，慢下来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0248" y="4023360"/>
            <a:ext cx="3657600" cy="15240"/>
          </a:xfrm>
          <a:prstGeom prst="rect">
            <a:avLst/>
          </a:prstGeom>
          <a:solidFill>
            <a:srgbClr val="C4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9377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500" b="0">
                <a:solidFill>
                  <a:srgbClr val="D8C8B2"/>
                </a:solidFill>
              </a:defRPr>
            </a:pPr>
            <a:r>
              <a:t>开发工具：WorkBuddy AI 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5778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300" b="0">
                <a:solidFill>
                  <a:srgbClr val="B8A68E"/>
                </a:solidFill>
              </a:defRPr>
            </a:pPr>
            <a:r>
              <a:t>技术栈：FastAPI · React · SQLite · 2026-08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2800" b="1">
                <a:solidFill>
                  <a:srgbClr val="6E4F3A"/>
                </a:solidFill>
              </a:defRPr>
            </a:pPr>
            <a: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200" b="0">
                <a:solidFill>
                  <a:srgbClr val="8A7D70"/>
                </a:solidFill>
              </a:defRPr>
            </a:pPr>
            <a:r>
              <a:t>PROJECT BACKGROUND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685800" cy="685800"/>
          </a:xfrm>
          <a:prstGeom prst="roundRect">
            <a:avLst/>
          </a:prstGeom>
          <a:solidFill>
            <a:srgbClr val="C4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5448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2000" b="1">
                <a:solidFill>
                  <a:srgbClr val="6E4F3A"/>
                </a:solidFill>
              </a:defRPr>
            </a:pPr>
            <a:r>
              <a:t>宠物消费升级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57400"/>
            <a:ext cx="9326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400" b="0">
                <a:solidFill>
                  <a:srgbClr val="3D342C"/>
                </a:solidFill>
              </a:defRPr>
            </a:pPr>
            <a:r>
              <a:t>越来越多年轻人把宠物当作家人，城市猫咖成为放松、社交的热门去处，但多数猫咖线上体验薄弱，仅靠朋友圈口口相传。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00400"/>
            <a:ext cx="685800" cy="685800"/>
          </a:xfrm>
          <a:prstGeom prst="roundRect">
            <a:avLst/>
          </a:prstGeom>
          <a:solidFill>
            <a:srgbClr val="C4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5468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2000" b="1">
                <a:solidFill>
                  <a:srgbClr val="6E4F3A"/>
                </a:solidFill>
              </a:defRPr>
            </a:pPr>
            <a:r>
              <a:t>新客沟通成本高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657600"/>
            <a:ext cx="9326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400" b="0">
                <a:solidFill>
                  <a:srgbClr val="3D342C"/>
                </a:solidFill>
              </a:defRPr>
            </a:pPr>
            <a:r>
              <a:t>预约规则、押金流程、互动须知等问题反复被新客询问，缺少一个集中展示与自助答疑的线上窗口。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00600"/>
            <a:ext cx="685800" cy="685800"/>
          </a:xfrm>
          <a:prstGeom prst="roundRect">
            <a:avLst/>
          </a:prstGeom>
          <a:solidFill>
            <a:srgbClr val="C4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75488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2000" b="1">
                <a:solidFill>
                  <a:srgbClr val="6E4F3A"/>
                </a:solidFill>
              </a:defRPr>
            </a:pPr>
            <a:r>
              <a:t>门店数字化缺失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257800"/>
            <a:ext cx="9326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400" b="0">
                <a:solidFill>
                  <a:srgbClr val="3D342C"/>
                </a:solidFill>
              </a:defRPr>
            </a:pPr>
            <a:r>
              <a:t>预约靠接龙、领养靠登记，数据散落，店长无法统一查看预约、押金与领养进度。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2800" b="1">
                <a:solidFill>
                  <a:srgbClr val="6E4F3A"/>
                </a:solidFill>
              </a:defRPr>
            </a:pPr>
            <a:r>
              <a:t>开发目的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200" b="0">
                <a:solidFill>
                  <a:srgbClr val="8A7D70"/>
                </a:solidFill>
              </a:defRPr>
            </a:pPr>
            <a:r>
              <a:t>DEVELOPMENT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2200" b="1">
                <a:solidFill>
                  <a:srgbClr val="C46A33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46304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700" b="1">
                <a:solidFill>
                  <a:srgbClr val="6E4F3A"/>
                </a:solidFill>
              </a:defRPr>
            </a:pPr>
            <a:r>
              <a:t>打造品牌线上门户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745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 b="0">
                <a:solidFill>
                  <a:srgbClr val="3D342C"/>
                </a:solidFill>
              </a:defRPr>
            </a:pPr>
            <a:r>
              <a:t>以「猫屿」品牌为核心，统一呈现门店信息、猫咪成员、餐单与品牌故事，建立治愈系品牌认知。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2200" b="1">
                <a:solidFill>
                  <a:srgbClr val="C46A33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46888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700" b="1">
                <a:solidFill>
                  <a:srgbClr val="6E4F3A"/>
                </a:solidFill>
              </a:defRPr>
            </a:pPr>
            <a:r>
              <a:t>在线预约 + 押金闭环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88036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 b="0">
                <a:solidFill>
                  <a:srgbClr val="3D342C"/>
                </a:solidFill>
              </a:defRPr>
            </a:pPr>
            <a:r>
              <a:t>前台免注册预约，押金线下转账、店长后台核验，形成「预约-核验-到店」完整闭环，替代人工接龙。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74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2200" b="1">
                <a:solidFill>
                  <a:srgbClr val="C46A33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4747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700" b="1">
                <a:solidFill>
                  <a:srgbClr val="6E4F3A"/>
                </a:solidFill>
              </a:defRPr>
            </a:pPr>
            <a:r>
              <a:t>降低新客沟通成本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88620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 b="0">
                <a:solidFill>
                  <a:srgbClr val="3D342C"/>
                </a:solidFill>
              </a:defRPr>
            </a:pPr>
            <a:r>
              <a:t>店长解答问答区 + 猫屿小助手 + 今日店长，集中解答新客疑惑，减少重复人工咨询。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80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2200" b="1">
                <a:solidFill>
                  <a:srgbClr val="C46A33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48056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700" b="1">
                <a:solidFill>
                  <a:srgbClr val="6E4F3A"/>
                </a:solidFill>
              </a:defRPr>
            </a:pPr>
            <a:r>
              <a:t>领养流程数字化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89204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 b="0">
                <a:solidFill>
                  <a:srgbClr val="3D342C"/>
                </a:solidFill>
              </a:defRPr>
            </a:pPr>
            <a:r>
              <a:t>在线提交领养申请，店长四级审核 + 回访记录留痕，让领养更规范、可追溯。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86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2200" b="1">
                <a:solidFill>
                  <a:srgbClr val="C46A33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4864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700" b="1">
                <a:solidFill>
                  <a:srgbClr val="6E4F3A"/>
                </a:solidFill>
              </a:defRPr>
            </a:pPr>
            <a:r>
              <a:t>验收交付完整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89788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 b="0">
                <a:solidFill>
                  <a:srgbClr val="3D342C"/>
                </a:solidFill>
              </a:defRPr>
            </a:pPr>
            <a:r>
              <a:t>输出 PRD、技术文档、产品原型、数据库脚本、演示 PPT 全套验收材料。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2800" b="1">
                <a:solidFill>
                  <a:srgbClr val="6E4F3A"/>
                </a:solidFill>
              </a:defRPr>
            </a:pPr>
            <a:r>
              <a:t>WorkBuddy 需求处理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200" b="0">
                <a:solidFill>
                  <a:srgbClr val="8A7D70"/>
                </a:solidFill>
              </a:defRPr>
            </a:pPr>
            <a:r>
              <a:t>AI-ASSISTED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500" b="0">
                <a:solidFill>
                  <a:srgbClr val="3D342C"/>
                </a:solidFill>
              </a:defRPr>
            </a:pPr>
            <a:r>
              <a:t>从需求提出到代码交付，全程由 WorkBuddy 智能助手处理：需求理解 → 方案设计 → 分阶段开发 → 测试验收。</a:t>
            </a:r>
          </a:p>
        </p:txBody>
      </p:sp>
      <p:pic>
        <p:nvPicPr>
          <p:cNvPr id="7" name="Picture 6" descr="04-需求处理记录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11680"/>
            <a:ext cx="10515600" cy="4023360"/>
          </a:xfrm>
          <a:prstGeom prst="rect">
            <a:avLst/>
          </a:prstGeom>
          <a:ln w="19050">
            <a:solidFill>
              <a:srgbClr val="E0D6C8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2800" b="1">
                <a:solidFill>
                  <a:srgbClr val="6E4F3A"/>
                </a:solidFill>
              </a:defRPr>
            </a:pPr>
            <a:r>
              <a:t>WorkBuddy 需求处理（续）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200" b="0">
                <a:solidFill>
                  <a:srgbClr val="8A7D70"/>
                </a:solidFill>
              </a:defRPr>
            </a:pPr>
            <a:r>
              <a:t>AI-ASSISTED DEVELOPMENT</a:t>
            </a:r>
          </a:p>
        </p:txBody>
      </p:sp>
      <p:pic>
        <p:nvPicPr>
          <p:cNvPr id="6" name="Picture 5" descr="05-需求处理特写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645920"/>
            <a:ext cx="9144000" cy="4206240"/>
          </a:xfrm>
          <a:prstGeom prst="rect">
            <a:avLst/>
          </a:prstGeom>
          <a:ln w="19050">
            <a:solidFill>
              <a:srgbClr val="E0D6C8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2800" b="1">
                <a:solidFill>
                  <a:srgbClr val="6E4F3A"/>
                </a:solidFill>
              </a:defRPr>
            </a:pPr>
            <a:r>
              <a:t>项目效果（前台）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200" b="0">
                <a:solidFill>
                  <a:srgbClr val="8A7D70"/>
                </a:solidFill>
              </a:defRPr>
            </a:pPr>
            <a:r>
              <a:t>PROJECT SHOWCASE</a:t>
            </a:r>
          </a:p>
        </p:txBody>
      </p:sp>
      <p:pic>
        <p:nvPicPr>
          <p:cNvPr id="6" name="Picture 5" descr="01-首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72800" cy="4114800"/>
          </a:xfrm>
          <a:prstGeom prst="rect">
            <a:avLst/>
          </a:prstGeom>
          <a:ln w="19050">
            <a:solidFill>
              <a:srgbClr val="E0D6C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200" b="0">
                <a:solidFill>
                  <a:srgbClr val="8A7D70"/>
                </a:solidFill>
              </a:defRPr>
            </a:pPr>
            <a:r>
              <a:t>首页：Hero 品牌区 · 猫咪故事 · 猫咪预览 · 餐单预览 · 门店信息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2800" b="1">
                <a:solidFill>
                  <a:srgbClr val="6E4F3A"/>
                </a:solidFill>
              </a:defRPr>
            </a:pPr>
            <a:r>
              <a:t>项目效果（猫咪页）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200" b="0">
                <a:solidFill>
                  <a:srgbClr val="8A7D70"/>
                </a:solidFill>
              </a:defRPr>
            </a:pPr>
            <a:r>
              <a:t>PROJECT SHOWCASE</a:t>
            </a:r>
          </a:p>
        </p:txBody>
      </p:sp>
      <p:pic>
        <p:nvPicPr>
          <p:cNvPr id="6" name="Picture 5" descr="02-猫咪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72800" cy="4114800"/>
          </a:xfrm>
          <a:prstGeom prst="rect">
            <a:avLst/>
          </a:prstGeom>
          <a:ln w="19050">
            <a:solidFill>
              <a:srgbClr val="E0D6C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200" b="0">
                <a:solidFill>
                  <a:srgbClr val="8A7D70"/>
                </a:solidFill>
              </a:defRPr>
            </a:pPr>
            <a:r>
              <a:t>猫咪列表页：今日店长展示位 · 猫咪档案卡片 · 可领养筛选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2800" b="1">
                <a:solidFill>
                  <a:srgbClr val="6E4F3A"/>
                </a:solidFill>
              </a:defRPr>
            </a:pPr>
            <a:r>
              <a:t>项目效果（后台管理）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200" b="0">
                <a:solidFill>
                  <a:srgbClr val="8A7D70"/>
                </a:solidFill>
              </a:defRPr>
            </a:pPr>
            <a:r>
              <a:t>PROJECT SHOWCASE</a:t>
            </a:r>
          </a:p>
        </p:txBody>
      </p:sp>
      <p:pic>
        <p:nvPicPr>
          <p:cNvPr id="6" name="Picture 5" descr="03-后台管理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72800" cy="4114800"/>
          </a:xfrm>
          <a:prstGeom prst="rect">
            <a:avLst/>
          </a:prstGeom>
          <a:ln w="19050">
            <a:solidFill>
              <a:srgbClr val="E0D6C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200" b="0">
                <a:solidFill>
                  <a:srgbClr val="8A7D70"/>
                </a:solidFill>
              </a:defRPr>
            </a:pPr>
            <a:r>
              <a:t>后台仪表盘：预约核验 · 押金管理 · 领养审核 · 门店配置 · 店长解答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2800" b="1">
                <a:solidFill>
                  <a:srgbClr val="6E4F3A"/>
                </a:solidFill>
              </a:defRPr>
            </a:pPr>
            <a:r>
              <a:t>项目心得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200" b="0">
                <a:solidFill>
                  <a:srgbClr val="8A7D70"/>
                </a:solidFill>
              </a:defRPr>
            </a:pPr>
            <a:r>
              <a:t>REFLECTIONS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700" b="1">
                <a:solidFill>
                  <a:srgbClr val="6E4F3A"/>
                </a:solidFill>
              </a:defRPr>
            </a:pPr>
            <a:r>
              <a:t>▪ 需求明确是成功的一半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 b="0">
                <a:solidFill>
                  <a:srgbClr val="3D342C"/>
                </a:solidFill>
              </a:defRPr>
            </a:pPr>
            <a:r>
              <a:t>通过 PRD 与 UIUX 规范先行，把「猫咖预约、押金、领养」等复杂业务拆解成可执行的里程碑（M1-M4），开发过程几乎没有返工。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700" b="1">
                <a:solidFill>
                  <a:srgbClr val="6E4F3A"/>
                </a:solidFill>
              </a:defRPr>
            </a:pPr>
            <a:r>
              <a:t>▪ AI 辅助开发 ≠ 全自动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 b="0">
                <a:solidFill>
                  <a:srgbClr val="3D342C"/>
                </a:solidFill>
              </a:defRPr>
            </a:pPr>
            <a:r>
              <a:t>WorkBuddy 大幅提升效率（建表、接口、页面、测试），但业务规则（押金核验、周一店休、领养审核）需要人工把关，代码注释与中文解释让审核更轻松。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700" b="1">
                <a:solidFill>
                  <a:srgbClr val="6E4F3A"/>
                </a:solidFill>
              </a:defRPr>
            </a:pPr>
            <a:r>
              <a:t>▪ 测试驱动更安心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 b="0">
                <a:solidFill>
                  <a:srgbClr val="3D342C"/>
                </a:solidFill>
              </a:defRPr>
            </a:pPr>
            <a:r>
              <a:t>28 项 pytest 用例覆盖预约、押金、领养、问答等核心链路，端到端验证后交付，质量更有保障。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66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700" b="1">
                <a:solidFill>
                  <a:srgbClr val="6E4F3A"/>
                </a:solidFill>
              </a:defRPr>
            </a:pPr>
            <a:r>
              <a:t>▪ 部署思维前置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235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 b="0">
                <a:solidFill>
                  <a:srgbClr val="3D342C"/>
                </a:solidFill>
              </a:defRPr>
            </a:pPr>
            <a:r>
              <a:t>单端口部署、内网穿透、本地图片存储等方案在设计阶段就确定，联调上线顺畅，验收材料水到渠成。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4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19456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44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800" b="0">
                <a:solidFill>
                  <a:srgbClr val="E8D8C2"/>
                </a:solidFill>
              </a:defRPr>
            </a:pPr>
            <a:r>
              <a:t>欢迎体验 · 敬请指正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9377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400" b="0">
                <a:solidFill>
                  <a:srgbClr val="C9B59C"/>
                </a:solidFill>
              </a:defRPr>
            </a:pPr>
            <a:r>
              <a:t>猫屿 CAT ISLE · WorkBuddy 验收演示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